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03F1CCA-C452-4371-A9DD-04DC4C66A3B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287DB5-89CF-4E46-9F08-1955891A5CC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C69E251-1572-423F-9433-1BAD2002B6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CA2D217-C4CD-4FDB-BE6A-1653B34655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3E76AD-FB3F-4EB6-A2AA-C6CF69DF2E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C19F37-1D5F-49D4-8ECB-1D21DE5997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040" cy="109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411480" y="6473880"/>
            <a:ext cx="511992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NEXT.JS + POSTGRESQL SETUP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835640" y="6473880"/>
            <a:ext cx="913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July 2026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1"/>
          <p:cNvSpPr>
            <a:spLocks noGrp="1"/>
          </p:cNvSpPr>
          <p:nvPr>
            <p:ph type="sldNum" idx="1"/>
          </p:nvPr>
        </p:nvSpPr>
        <p:spPr>
          <a:xfrm>
            <a:off x="11841480" y="64738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EBD8D1C-0503-4025-A8F1-33DCA9A36B8C}" type="slidenum"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nodejs.org/en/download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nodejs.org/en/download" TargetMode="External"/><Relationship Id="rId2" Type="http://schemas.openxmlformats.org/officeDocument/2006/relationships/hyperlink" Target="https://nodejs.org/en/download" TargetMode="External"/><Relationship Id="rId3" Type="http://schemas.openxmlformats.org/officeDocument/2006/relationships/hyperlink" Target="https://nextjs.org/docs/app/getting-started/installation" TargetMode="External"/><Relationship Id="rId4" Type="http://schemas.openxmlformats.org/officeDocument/2006/relationships/hyperlink" Target="https://nextjs.org/docs/app/getting-started/installation" TargetMode="External"/><Relationship Id="rId5" Type="http://schemas.openxmlformats.org/officeDocument/2006/relationships/hyperlink" Target="https://nextjs.org/docs/app/api-reference/cli/create-next-app" TargetMode="External"/><Relationship Id="rId6" Type="http://schemas.openxmlformats.org/officeDocument/2006/relationships/hyperlink" Target="https://nextjs.org/docs/app/api-reference/cli/create-next-app" TargetMode="External"/><Relationship Id="rId7" Type="http://schemas.openxmlformats.org/officeDocument/2006/relationships/hyperlink" Target="https://node-postgres.com/" TargetMode="External"/><Relationship Id="rId8" Type="http://schemas.openxmlformats.org/officeDocument/2006/relationships/hyperlink" Target="https://node-postgres.com/" TargetMode="External"/><Relationship Id="rId9" Type="http://schemas.openxmlformats.org/officeDocument/2006/relationships/hyperlink" Target="https://node-postgres.com/features/connecting" TargetMode="External"/><Relationship Id="rId10" Type="http://schemas.openxmlformats.org/officeDocument/2006/relationships/hyperlink" Target="https://node-postgres.com/features/connecting" TargetMode="External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/>
          <p:cNvSpPr/>
          <p:nvPr/>
        </p:nvSpPr>
        <p:spPr>
          <a:xfrm>
            <a:off x="640080" y="777240"/>
            <a:ext cx="10926360" cy="521136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algn="bl" blurRad="25560" dir="2700000" dist="12218" kx="0" ky="0" rotWithShape="0" sx="100000" sy="10000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/>
          <p:cNvSpPr/>
          <p:nvPr/>
        </p:nvSpPr>
        <p:spPr>
          <a:xfrm>
            <a:off x="1051560" y="1234440"/>
            <a:ext cx="987480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Next.js + PostgreSQL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"/>
          <p:cNvSpPr/>
          <p:nvPr/>
        </p:nvSpPr>
        <p:spPr>
          <a:xfrm>
            <a:off x="1188720" y="1993320"/>
            <a:ext cx="96004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Install Node.js • Create a Next app • Add the pg driver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3"/>
          <p:cNvSpPr/>
          <p:nvPr/>
        </p:nvSpPr>
        <p:spPr>
          <a:xfrm>
            <a:off x="1234440" y="2880360"/>
            <a:ext cx="657720" cy="6577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4"/>
          <p:cNvSpPr/>
          <p:nvPr/>
        </p:nvSpPr>
        <p:spPr>
          <a:xfrm>
            <a:off x="1234440" y="2990160"/>
            <a:ext cx="657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5"/>
          <p:cNvSpPr/>
          <p:nvPr/>
        </p:nvSpPr>
        <p:spPr>
          <a:xfrm>
            <a:off x="914400" y="3730680"/>
            <a:ext cx="13251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Install Node.js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6"/>
          <p:cNvSpPr/>
          <p:nvPr/>
        </p:nvSpPr>
        <p:spPr>
          <a:xfrm>
            <a:off x="2514600" y="3026520"/>
            <a:ext cx="1325160" cy="383400"/>
          </a:xfrm>
          <a:prstGeom prst="chevron">
            <a:avLst>
              <a:gd name="adj" fmla="val 50000"/>
            </a:avLst>
          </a:prstGeom>
          <a:solidFill>
            <a:srgbClr val="D1D5D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7"/>
          <p:cNvSpPr/>
          <p:nvPr/>
        </p:nvSpPr>
        <p:spPr>
          <a:xfrm>
            <a:off x="4572000" y="2880360"/>
            <a:ext cx="657720" cy="6577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8"/>
          <p:cNvSpPr/>
          <p:nvPr/>
        </p:nvSpPr>
        <p:spPr>
          <a:xfrm>
            <a:off x="4572000" y="2990160"/>
            <a:ext cx="657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9"/>
          <p:cNvSpPr/>
          <p:nvPr/>
        </p:nvSpPr>
        <p:spPr>
          <a:xfrm>
            <a:off x="4251960" y="3730680"/>
            <a:ext cx="13251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Initialize Next.js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0"/>
          <p:cNvSpPr/>
          <p:nvPr/>
        </p:nvSpPr>
        <p:spPr>
          <a:xfrm>
            <a:off x="5852160" y="3026520"/>
            <a:ext cx="1325160" cy="383400"/>
          </a:xfrm>
          <a:prstGeom prst="chevron">
            <a:avLst>
              <a:gd name="adj" fmla="val 50000"/>
            </a:avLst>
          </a:prstGeom>
          <a:solidFill>
            <a:srgbClr val="D1D5DB"/>
          </a:solidFill>
          <a:ln w="12700">
            <a:solidFill>
              <a:srgbClr val="D1D5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1"/>
          <p:cNvSpPr/>
          <p:nvPr/>
        </p:nvSpPr>
        <p:spPr>
          <a:xfrm>
            <a:off x="7909560" y="2880360"/>
            <a:ext cx="657720" cy="6577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2"/>
          <p:cNvSpPr/>
          <p:nvPr/>
        </p:nvSpPr>
        <p:spPr>
          <a:xfrm>
            <a:off x="7909560" y="2990160"/>
            <a:ext cx="6577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/>
          <p:cNvSpPr/>
          <p:nvPr/>
        </p:nvSpPr>
        <p:spPr>
          <a:xfrm>
            <a:off x="7589520" y="3730680"/>
            <a:ext cx="13251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Install PostgreSQL support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4"/>
          <p:cNvSpPr/>
          <p:nvPr/>
        </p:nvSpPr>
        <p:spPr>
          <a:xfrm>
            <a:off x="3749040" y="4892040"/>
            <a:ext cx="46627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For Windows and macOS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sldNum" idx="5"/>
          </p:nvPr>
        </p:nvSpPr>
        <p:spPr>
          <a:xfrm>
            <a:off x="11841480" y="64738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7C8C220-5834-49E1-8AC3-285356476D28}" type="slidenum"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0"/>
          <p:cNvSpPr/>
          <p:nvPr/>
        </p:nvSpPr>
        <p:spPr>
          <a:xfrm>
            <a:off x="502920" y="384120"/>
            <a:ext cx="111549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Install Node.js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"/>
          <p:cNvSpPr/>
          <p:nvPr/>
        </p:nvSpPr>
        <p:spPr>
          <a:xfrm>
            <a:off x="530280" y="914400"/>
            <a:ext cx="10972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Recommended classroom option: install the LTS package from Node.js.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2"/>
          <p:cNvSpPr/>
          <p:nvPr/>
        </p:nvSpPr>
        <p:spPr>
          <a:xfrm>
            <a:off x="594360" y="1353240"/>
            <a:ext cx="5302800" cy="443412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dir="0" dist="0" kx="0" ky="0" rotWithShape="0" sx="100000" sy="100000">
              <a:srgbClr val="000000">
                <a:alpha val="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3"/>
          <p:cNvSpPr/>
          <p:nvPr/>
        </p:nvSpPr>
        <p:spPr>
          <a:xfrm>
            <a:off x="594360" y="1353240"/>
            <a:ext cx="81720" cy="44341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1040" tIns="45000" rIns="410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4"/>
          <p:cNvSpPr/>
          <p:nvPr/>
        </p:nvSpPr>
        <p:spPr>
          <a:xfrm>
            <a:off x="850320" y="1536120"/>
            <a:ext cx="4891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1. Download Node.js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5"/>
          <p:cNvSpPr/>
          <p:nvPr/>
        </p:nvSpPr>
        <p:spPr>
          <a:xfrm>
            <a:off x="850320" y="1956960"/>
            <a:ext cx="4863960" cy="366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Open: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sng" strike="noStrike">
                <a:solidFill>
                  <a:srgbClr val="0563C1"/>
                </a:solidFill>
                <a:effectLst/>
                <a:uFillTx/>
                <a:latin typeface="Aptos"/>
                <a:hlinkClick r:id="rId1"/>
              </a:rPr>
              <a:t>https://nodejs.org/en/download
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For Mac: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Download the macOS Installer (.pkg) for the LTS release. Choose the build matching your Mac: Apple silicon or Intel.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For Windows: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Choose the Windows Installer (.msi) for the LTS release.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6"/>
          <p:cNvSpPr/>
          <p:nvPr/>
        </p:nvSpPr>
        <p:spPr>
          <a:xfrm>
            <a:off x="6199560" y="1353240"/>
            <a:ext cx="5394240" cy="443412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dir="0" dist="0" kx="0" ky="0" rotWithShape="0" sx="100000" sy="100000">
              <a:srgbClr val="000000">
                <a:alpha val="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7"/>
          <p:cNvSpPr/>
          <p:nvPr/>
        </p:nvSpPr>
        <p:spPr>
          <a:xfrm>
            <a:off x="6199560" y="1353240"/>
            <a:ext cx="81720" cy="4434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1040" tIns="45000" rIns="410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8"/>
          <p:cNvSpPr/>
          <p:nvPr/>
        </p:nvSpPr>
        <p:spPr>
          <a:xfrm>
            <a:off x="6455520" y="1536120"/>
            <a:ext cx="498276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 Install and verify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9"/>
          <p:cNvSpPr/>
          <p:nvPr/>
        </p:nvSpPr>
        <p:spPr>
          <a:xfrm>
            <a:off x="6455520" y="1956960"/>
            <a:ext cx="4955400" cy="366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Open the .pkg file and follow the installer. Then open Command Prompt, PowerShell or Terminal and verify Node.js and npm: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0"/>
          <p:cNvSpPr/>
          <p:nvPr/>
        </p:nvSpPr>
        <p:spPr>
          <a:xfrm>
            <a:off x="6537960" y="3090600"/>
            <a:ext cx="4708440" cy="1297800"/>
          </a:xfrm>
          <a:prstGeom prst="roundRect">
            <a:avLst>
              <a:gd name="adj" fmla="val 4225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1"/>
          <p:cNvSpPr/>
          <p:nvPr/>
        </p:nvSpPr>
        <p:spPr>
          <a:xfrm>
            <a:off x="6739200" y="3255120"/>
            <a:ext cx="4305960" cy="98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node --version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npm --version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2"/>
          <p:cNvSpPr/>
          <p:nvPr/>
        </p:nvSpPr>
        <p:spPr>
          <a:xfrm>
            <a:off x="6565320" y="4745880"/>
            <a:ext cx="209520" cy="2095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3"/>
          <p:cNvSpPr/>
          <p:nvPr/>
        </p:nvSpPr>
        <p:spPr>
          <a:xfrm>
            <a:off x="6579000" y="4722840"/>
            <a:ext cx="1821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4"/>
          <p:cNvSpPr/>
          <p:nvPr/>
        </p:nvSpPr>
        <p:spPr>
          <a:xfrm>
            <a:off x="6876360" y="4727520"/>
            <a:ext cx="4845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Both commands should print version numbers.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5"/>
          <p:cNvSpPr/>
          <p:nvPr/>
        </p:nvSpPr>
        <p:spPr>
          <a:xfrm>
            <a:off x="777240" y="592524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Optional for experienced users: install through a version manager such as nvm.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1"/>
          <p:cNvSpPr>
            <a:spLocks noGrp="1"/>
          </p:cNvSpPr>
          <p:nvPr>
            <p:ph type="sldNum" idx="6"/>
          </p:nvPr>
        </p:nvSpPr>
        <p:spPr>
          <a:xfrm>
            <a:off x="11841480" y="64738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871E934-BFDF-4356-AD5A-0CC1E457DB81}" type="slidenum"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0"/>
          <p:cNvSpPr/>
          <p:nvPr/>
        </p:nvSpPr>
        <p:spPr>
          <a:xfrm>
            <a:off x="502920" y="384120"/>
            <a:ext cx="111549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Create the Next.js app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"/>
          <p:cNvSpPr/>
          <p:nvPr/>
        </p:nvSpPr>
        <p:spPr>
          <a:xfrm>
            <a:off x="530280" y="914400"/>
            <a:ext cx="10972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Run these commands in PowerShell or Command Prompt.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"/>
          <p:cNvSpPr/>
          <p:nvPr/>
        </p:nvSpPr>
        <p:spPr>
          <a:xfrm>
            <a:off x="640080" y="1371600"/>
            <a:ext cx="3474000" cy="452556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dir="0" dist="0" kx="0" ky="0" rotWithShape="0" sx="100000" sy="100000">
              <a:srgbClr val="000000">
                <a:alpha val="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3"/>
          <p:cNvSpPr/>
          <p:nvPr/>
        </p:nvSpPr>
        <p:spPr>
          <a:xfrm>
            <a:off x="640080" y="1371600"/>
            <a:ext cx="81720" cy="4525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1040" tIns="45000" rIns="410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4"/>
          <p:cNvSpPr/>
          <p:nvPr/>
        </p:nvSpPr>
        <p:spPr>
          <a:xfrm>
            <a:off x="896040" y="1554480"/>
            <a:ext cx="306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1. Choose a folder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5"/>
          <p:cNvSpPr/>
          <p:nvPr/>
        </p:nvSpPr>
        <p:spPr>
          <a:xfrm>
            <a:off x="896040" y="1974960"/>
            <a:ext cx="3035160" cy="375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Navigate to the folder where you want the project. Example: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6"/>
          <p:cNvSpPr/>
          <p:nvPr/>
        </p:nvSpPr>
        <p:spPr>
          <a:xfrm>
            <a:off x="932760" y="2761560"/>
            <a:ext cx="2879640" cy="1169640"/>
          </a:xfrm>
          <a:prstGeom prst="roundRect">
            <a:avLst>
              <a:gd name="adj" fmla="val 4688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7"/>
          <p:cNvSpPr/>
          <p:nvPr/>
        </p:nvSpPr>
        <p:spPr>
          <a:xfrm>
            <a:off x="1134000" y="2926080"/>
            <a:ext cx="2477160" cy="85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cd Documents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mkdir db-project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cd db-project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8"/>
          <p:cNvSpPr/>
          <p:nvPr/>
        </p:nvSpPr>
        <p:spPr>
          <a:xfrm>
            <a:off x="4370760" y="1371600"/>
            <a:ext cx="3474000" cy="452556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dir="0" dist="0" kx="0" ky="0" rotWithShape="0" sx="100000" sy="100000">
              <a:srgbClr val="000000">
                <a:alpha val="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9"/>
          <p:cNvSpPr/>
          <p:nvPr/>
        </p:nvSpPr>
        <p:spPr>
          <a:xfrm>
            <a:off x="4370760" y="1371600"/>
            <a:ext cx="81720" cy="45255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1040" tIns="45000" rIns="410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0"/>
          <p:cNvSpPr/>
          <p:nvPr/>
        </p:nvSpPr>
        <p:spPr>
          <a:xfrm>
            <a:off x="4626720" y="1554480"/>
            <a:ext cx="306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 Create the app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1"/>
          <p:cNvSpPr/>
          <p:nvPr/>
        </p:nvSpPr>
        <p:spPr>
          <a:xfrm>
            <a:off x="4626720" y="1974960"/>
            <a:ext cx="3035160" cy="375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Create a new project using the official Next.js CLI. Answer the prompts or accept the defaults.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12"/>
          <p:cNvSpPr/>
          <p:nvPr/>
        </p:nvSpPr>
        <p:spPr>
          <a:xfrm>
            <a:off x="4645080" y="2761560"/>
            <a:ext cx="2907000" cy="1169640"/>
          </a:xfrm>
          <a:prstGeom prst="roundRect">
            <a:avLst>
              <a:gd name="adj" fmla="val 4688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3"/>
          <p:cNvSpPr/>
          <p:nvPr/>
        </p:nvSpPr>
        <p:spPr>
          <a:xfrm>
            <a:off x="4846320" y="2926080"/>
            <a:ext cx="2504880" cy="85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npm create next-app@latest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# Project name: my-app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14"/>
          <p:cNvSpPr/>
          <p:nvPr/>
        </p:nvSpPr>
        <p:spPr>
          <a:xfrm>
            <a:off x="8101440" y="1371600"/>
            <a:ext cx="3474000" cy="452556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dir="0" dist="0" kx="0" ky="0" rotWithShape="0" sx="100000" sy="100000">
              <a:srgbClr val="000000">
                <a:alpha val="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15"/>
          <p:cNvSpPr/>
          <p:nvPr/>
        </p:nvSpPr>
        <p:spPr>
          <a:xfrm>
            <a:off x="8101440" y="1371600"/>
            <a:ext cx="81720" cy="45255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1040" tIns="45000" rIns="410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6"/>
          <p:cNvSpPr/>
          <p:nvPr/>
        </p:nvSpPr>
        <p:spPr>
          <a:xfrm>
            <a:off x="8357760" y="1554480"/>
            <a:ext cx="306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3. Start development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7"/>
          <p:cNvSpPr/>
          <p:nvPr/>
        </p:nvSpPr>
        <p:spPr>
          <a:xfrm>
            <a:off x="8357760" y="1974960"/>
            <a:ext cx="3035160" cy="375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Enter the generated project folder and launch the development server.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8"/>
          <p:cNvSpPr/>
          <p:nvPr/>
        </p:nvSpPr>
        <p:spPr>
          <a:xfrm>
            <a:off x="8375760" y="2761560"/>
            <a:ext cx="2907000" cy="1169640"/>
          </a:xfrm>
          <a:prstGeom prst="roundRect">
            <a:avLst>
              <a:gd name="adj" fmla="val 4688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9"/>
          <p:cNvSpPr/>
          <p:nvPr/>
        </p:nvSpPr>
        <p:spPr>
          <a:xfrm>
            <a:off x="8577000" y="2926080"/>
            <a:ext cx="2504880" cy="85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cd my-app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npm run dev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0"/>
          <p:cNvSpPr/>
          <p:nvPr/>
        </p:nvSpPr>
        <p:spPr>
          <a:xfrm>
            <a:off x="8366760" y="4316040"/>
            <a:ext cx="29070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Open http://localhost:3000 in your browser.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sldNum" idx="7"/>
          </p:nvPr>
        </p:nvSpPr>
        <p:spPr>
          <a:xfrm>
            <a:off x="11841480" y="64738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3CED893-6761-49DA-A006-0B052281BA8E}" type="slidenum"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Shape 25"/>
          <p:cNvSpPr/>
          <p:nvPr/>
        </p:nvSpPr>
        <p:spPr>
          <a:xfrm>
            <a:off x="914400" y="4343400"/>
            <a:ext cx="2879640" cy="1169640"/>
          </a:xfrm>
          <a:prstGeom prst="roundRect">
            <a:avLst>
              <a:gd name="adj" fmla="val 4688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cd ~/Documents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mkdir db-project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cd db-project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0"/>
          <p:cNvSpPr/>
          <p:nvPr/>
        </p:nvSpPr>
        <p:spPr>
          <a:xfrm>
            <a:off x="502920" y="384120"/>
            <a:ext cx="111549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Install PostgreSQL support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"/>
          <p:cNvSpPr/>
          <p:nvPr/>
        </p:nvSpPr>
        <p:spPr>
          <a:xfrm>
            <a:off x="530280" y="914400"/>
            <a:ext cx="10972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The common Node.js PostgreSQL package is node-postgres, installed as pg.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2"/>
          <p:cNvSpPr/>
          <p:nvPr/>
        </p:nvSpPr>
        <p:spPr>
          <a:xfrm>
            <a:off x="658440" y="1353240"/>
            <a:ext cx="10771200" cy="449820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dir="0" dist="0" kx="0" ky="0" rotWithShape="0" sx="100000" sy="100000">
              <a:srgbClr val="000000">
                <a:alpha val="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3"/>
          <p:cNvSpPr/>
          <p:nvPr/>
        </p:nvSpPr>
        <p:spPr>
          <a:xfrm>
            <a:off x="658440" y="1353240"/>
            <a:ext cx="81720" cy="44982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1040" tIns="45000" rIns="410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4"/>
          <p:cNvSpPr/>
          <p:nvPr/>
        </p:nvSpPr>
        <p:spPr>
          <a:xfrm>
            <a:off x="914400" y="1536120"/>
            <a:ext cx="32911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Install inside the app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5"/>
          <p:cNvSpPr/>
          <p:nvPr/>
        </p:nvSpPr>
        <p:spPr>
          <a:xfrm>
            <a:off x="914400" y="1956960"/>
            <a:ext cx="3263760" cy="37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Stop the development server with Ctrl+C if needed. From the project folder, install the package: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6"/>
          <p:cNvSpPr/>
          <p:nvPr/>
        </p:nvSpPr>
        <p:spPr>
          <a:xfrm>
            <a:off x="960120" y="2770560"/>
            <a:ext cx="3089880" cy="932040"/>
          </a:xfrm>
          <a:prstGeom prst="roundRect">
            <a:avLst>
              <a:gd name="adj" fmla="val 5882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7"/>
          <p:cNvSpPr/>
          <p:nvPr/>
        </p:nvSpPr>
        <p:spPr>
          <a:xfrm>
            <a:off x="1161360" y="2935080"/>
            <a:ext cx="268776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npm install pg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8"/>
          <p:cNvSpPr/>
          <p:nvPr/>
        </p:nvSpPr>
        <p:spPr>
          <a:xfrm>
            <a:off x="960120" y="4041720"/>
            <a:ext cx="30168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Using TypeScript?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9"/>
          <p:cNvSpPr/>
          <p:nvPr/>
        </p:nvSpPr>
        <p:spPr>
          <a:xfrm>
            <a:off x="960120" y="4407480"/>
            <a:ext cx="3089880" cy="840600"/>
          </a:xfrm>
          <a:prstGeom prst="roundRect">
            <a:avLst>
              <a:gd name="adj" fmla="val 6522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0"/>
          <p:cNvSpPr/>
          <p:nvPr/>
        </p:nvSpPr>
        <p:spPr>
          <a:xfrm>
            <a:off x="1161360" y="4572000"/>
            <a:ext cx="268776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npm install -D @types/pg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6"/>
          <p:cNvSpPr/>
          <p:nvPr/>
        </p:nvSpPr>
        <p:spPr>
          <a:xfrm>
            <a:off x="5120640" y="2670120"/>
            <a:ext cx="5888160" cy="22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8"/>
          <p:cNvSpPr/>
          <p:nvPr/>
        </p:nvSpPr>
        <p:spPr>
          <a:xfrm>
            <a:off x="5870520" y="5212080"/>
            <a:ext cx="5074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sldNum" idx="8"/>
          </p:nvPr>
        </p:nvSpPr>
        <p:spPr>
          <a:xfrm>
            <a:off x="11841480" y="64738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64F5746-0405-48B9-B1E9-A2B8380C35DC}" type="slidenum"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Text 3"/>
          <p:cNvSpPr/>
          <p:nvPr/>
        </p:nvSpPr>
        <p:spPr>
          <a:xfrm>
            <a:off x="914760" y="1536480"/>
            <a:ext cx="32911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Install inside the app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6766920" y="1453680"/>
            <a:ext cx="4434120" cy="83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Clone the Demo Repo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https://github.com/watswat5/DBToolTalk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"/>
          <p:cNvPicPr/>
          <p:nvPr/>
        </p:nvPicPr>
        <p:blipFill>
          <a:blip r:embed="rId1"/>
          <a:stretch/>
        </p:blipFill>
        <p:spPr>
          <a:xfrm>
            <a:off x="6858000" y="2286000"/>
            <a:ext cx="3571560" cy="3571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29"/>
          <p:cNvSpPr/>
          <p:nvPr/>
        </p:nvSpPr>
        <p:spPr>
          <a:xfrm>
            <a:off x="502920" y="384120"/>
            <a:ext cx="111549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Final check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30"/>
          <p:cNvSpPr/>
          <p:nvPr/>
        </p:nvSpPr>
        <p:spPr>
          <a:xfrm>
            <a:off x="530280" y="914400"/>
            <a:ext cx="10972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Confirm the full toolchain before starting database code.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"/>
          <p:cNvSpPr/>
          <p:nvPr/>
        </p:nvSpPr>
        <p:spPr>
          <a:xfrm>
            <a:off x="868680" y="1527120"/>
            <a:ext cx="209520" cy="2095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31"/>
          <p:cNvSpPr/>
          <p:nvPr/>
        </p:nvSpPr>
        <p:spPr>
          <a:xfrm>
            <a:off x="882360" y="1504080"/>
            <a:ext cx="1821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2"/>
          <p:cNvSpPr/>
          <p:nvPr/>
        </p:nvSpPr>
        <p:spPr>
          <a:xfrm>
            <a:off x="1179720" y="1508760"/>
            <a:ext cx="4845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node --version works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4"/>
          <p:cNvSpPr/>
          <p:nvPr/>
        </p:nvSpPr>
        <p:spPr>
          <a:xfrm>
            <a:off x="868680" y="2148840"/>
            <a:ext cx="209520" cy="2095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882360" y="2126160"/>
            <a:ext cx="1821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179720" y="2130480"/>
            <a:ext cx="4845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npm --version works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13"/>
          <p:cNvSpPr/>
          <p:nvPr/>
        </p:nvSpPr>
        <p:spPr>
          <a:xfrm>
            <a:off x="868680" y="2770560"/>
            <a:ext cx="209520" cy="2095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35"/>
          <p:cNvSpPr/>
          <p:nvPr/>
        </p:nvSpPr>
        <p:spPr>
          <a:xfrm>
            <a:off x="882360" y="2747880"/>
            <a:ext cx="1821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79720" y="2752200"/>
            <a:ext cx="4845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Next.js opens at localhost:3000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6"/>
          <p:cNvSpPr/>
          <p:nvPr/>
        </p:nvSpPr>
        <p:spPr>
          <a:xfrm>
            <a:off x="868680" y="3392280"/>
            <a:ext cx="209520" cy="2095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37"/>
          <p:cNvSpPr/>
          <p:nvPr/>
        </p:nvSpPr>
        <p:spPr>
          <a:xfrm>
            <a:off x="882360" y="3369600"/>
            <a:ext cx="1821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8"/>
          <p:cNvSpPr/>
          <p:nvPr/>
        </p:nvSpPr>
        <p:spPr>
          <a:xfrm>
            <a:off x="1179720" y="3374280"/>
            <a:ext cx="4845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pg appears in package.json dependencies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9"/>
          <p:cNvSpPr/>
          <p:nvPr/>
        </p:nvSpPr>
        <p:spPr>
          <a:xfrm>
            <a:off x="868680" y="4014360"/>
            <a:ext cx="209520" cy="2095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39"/>
          <p:cNvSpPr/>
          <p:nvPr/>
        </p:nvSpPr>
        <p:spPr>
          <a:xfrm>
            <a:off x="882360" y="3991320"/>
            <a:ext cx="1821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40"/>
          <p:cNvSpPr/>
          <p:nvPr/>
        </p:nvSpPr>
        <p:spPr>
          <a:xfrm>
            <a:off x="1179720" y="3996000"/>
            <a:ext cx="4845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PostgreSQL server and database credentials are available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20"/>
          <p:cNvSpPr/>
          <p:nvPr/>
        </p:nvSpPr>
        <p:spPr>
          <a:xfrm>
            <a:off x="6446520" y="1325880"/>
            <a:ext cx="4891320" cy="447984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dir="0" dist="0" kx="0" ky="0" rotWithShape="0" sx="100000" sy="100000">
              <a:srgbClr val="000000">
                <a:alpha val="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41"/>
          <p:cNvSpPr/>
          <p:nvPr/>
        </p:nvSpPr>
        <p:spPr>
          <a:xfrm>
            <a:off x="6784920" y="1627560"/>
            <a:ext cx="41598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Official references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42"/>
          <p:cNvSpPr/>
          <p:nvPr/>
        </p:nvSpPr>
        <p:spPr>
          <a:xfrm>
            <a:off x="6793920" y="2212920"/>
            <a:ext cx="15994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Node.js downloads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43">
            <a:hlinkClick r:id="rId1"/>
          </p:cNvPr>
          <p:cNvSpPr/>
          <p:nvPr/>
        </p:nvSpPr>
        <p:spPr>
          <a:xfrm>
            <a:off x="8412480" y="2212920"/>
            <a:ext cx="25138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sng" strike="noStrike">
                <a:solidFill>
                  <a:srgbClr val="0563C1"/>
                </a:solidFill>
                <a:effectLst/>
                <a:uFillTx/>
                <a:latin typeface="Aptos"/>
                <a:hlinkClick r:id="rId2"/>
              </a:rPr>
              <a:t>https://nodejs.org/en/download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44"/>
          <p:cNvSpPr/>
          <p:nvPr/>
        </p:nvSpPr>
        <p:spPr>
          <a:xfrm>
            <a:off x="6793920" y="2825640"/>
            <a:ext cx="15994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Next.js installation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45">
            <a:hlinkClick r:id="rId3"/>
          </p:cNvPr>
          <p:cNvSpPr/>
          <p:nvPr/>
        </p:nvSpPr>
        <p:spPr>
          <a:xfrm>
            <a:off x="8412480" y="2825640"/>
            <a:ext cx="25138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sng" strike="noStrike">
                <a:solidFill>
                  <a:srgbClr val="0563C1"/>
                </a:solidFill>
                <a:effectLst/>
                <a:uFillTx/>
                <a:latin typeface="Aptos"/>
                <a:hlinkClick r:id="rId4"/>
              </a:rPr>
              <a:t>https://nextjs.org/docs/app/getting-started/installation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46"/>
          <p:cNvSpPr/>
          <p:nvPr/>
        </p:nvSpPr>
        <p:spPr>
          <a:xfrm>
            <a:off x="6793920" y="3438000"/>
            <a:ext cx="15994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create-next-app CLI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47">
            <a:hlinkClick r:id="rId5"/>
          </p:cNvPr>
          <p:cNvSpPr/>
          <p:nvPr/>
        </p:nvSpPr>
        <p:spPr>
          <a:xfrm>
            <a:off x="8412480" y="3438000"/>
            <a:ext cx="25138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sng" strike="noStrike">
                <a:solidFill>
                  <a:srgbClr val="0563C1"/>
                </a:solidFill>
                <a:effectLst/>
                <a:uFillTx/>
                <a:latin typeface="Aptos"/>
                <a:hlinkClick r:id="rId6"/>
              </a:rPr>
              <a:t>https://nextjs.org/docs/app/api-reference/cli/create-next-app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48"/>
          <p:cNvSpPr/>
          <p:nvPr/>
        </p:nvSpPr>
        <p:spPr>
          <a:xfrm>
            <a:off x="6793920" y="4050720"/>
            <a:ext cx="15994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node-postgres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49">
            <a:hlinkClick r:id="rId7"/>
          </p:cNvPr>
          <p:cNvSpPr/>
          <p:nvPr/>
        </p:nvSpPr>
        <p:spPr>
          <a:xfrm>
            <a:off x="8412480" y="4050720"/>
            <a:ext cx="25138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sng" strike="noStrike">
                <a:solidFill>
                  <a:srgbClr val="0563C1"/>
                </a:solidFill>
                <a:effectLst/>
                <a:uFillTx/>
                <a:latin typeface="Aptos"/>
                <a:hlinkClick r:id="rId8"/>
              </a:rPr>
              <a:t>https://node-postgres.com/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50"/>
          <p:cNvSpPr/>
          <p:nvPr/>
        </p:nvSpPr>
        <p:spPr>
          <a:xfrm>
            <a:off x="6793920" y="4663440"/>
            <a:ext cx="15994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Connection setup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51">
            <a:hlinkClick r:id="rId9"/>
          </p:cNvPr>
          <p:cNvSpPr/>
          <p:nvPr/>
        </p:nvSpPr>
        <p:spPr>
          <a:xfrm>
            <a:off x="8412480" y="4663440"/>
            <a:ext cx="25138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sng" strike="noStrike">
                <a:solidFill>
                  <a:srgbClr val="0563C1"/>
                </a:solidFill>
                <a:effectLst/>
                <a:uFillTx/>
                <a:latin typeface="Aptos"/>
                <a:hlinkClick r:id="rId10"/>
              </a:rPr>
              <a:t>https://node-postgres.com/features/connecting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1"/>
          <p:cNvSpPr>
            <a:spLocks noGrp="1"/>
          </p:cNvSpPr>
          <p:nvPr>
            <p:ph type="sldNum" idx="9"/>
          </p:nvPr>
        </p:nvSpPr>
        <p:spPr>
          <a:xfrm>
            <a:off x="11841480" y="64738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ACA8027-C9F2-4D80-A395-9FDDB824A1DD}" type="slidenum"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5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Application>LibreOffice/26.2.3.2$Linux_X86_64 LibreOffice_project/620$Build-2</Application>
  <AppVersion>15.0000</AppVersion>
  <Words>0</Words>
  <Paragraphs>0</Paragraphs>
  <Company>OpenAI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2026-07-17T16:37:33Z</dcterms:created>
  <dc:creator>OpenAI</dc:creator>
  <dc:description/>
  <dc:language>en-US</dc:language>
  <cp:lastModifiedBy/>
  <dcterms:modified xsi:type="dcterms:W3CDTF">2026-07-20T12:09:30Z</dcterms:modified>
  <cp:revision>4</cp:revision>
  <dc:subject>Install Node.js, initialize a Next.js app, and install PostgreSQL support</dc:subject>
  <dc:title>Next.js + PostgreSQL Setup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</vt:i4>
  </property>
  <property fmtid="{D5CDD505-2E9C-101B-9397-08002B2CF9AE}" pid="3" name="PresentationFormat">
    <vt:lpwstr>On-screen Show (16:9)</vt:lpwstr>
  </property>
  <property fmtid="{D5CDD505-2E9C-101B-9397-08002B2CF9AE}" pid="4" name="Slides">
    <vt:i4>7</vt:i4>
  </property>
</Properties>
</file>