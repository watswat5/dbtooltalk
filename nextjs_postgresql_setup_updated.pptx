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F0215D2-8806-40C2-A6B8-7BB64889F6A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59C2F4-CF83-474D-BCB2-2759B893BB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4206C08-55D3-46CB-B613-05646F2B8D6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92221B-2DC1-4805-A924-1BCAF8B208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3795A9-A916-49E1-8838-1B76EC9D81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2BA59A2-A8C5-441B-979D-B16F24BD7E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87AFC7-3C5F-47CB-9F61-E0D4764A6E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411480" y="6473880"/>
            <a:ext cx="5120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NEXT.JS + POSTGRESQL SETUP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835640" y="647388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July 2026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sldNum" idx="1"/>
          </p:nvPr>
        </p:nvSpPr>
        <p:spPr>
          <a:xfrm>
            <a:off x="11841480" y="647388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621D674-F794-4F54-BF5E-6C2FAFF2BD5C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nodejs.org/en/download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s://nodejs.org/en/download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nodejs.org/en/download" TargetMode="External"/><Relationship Id="rId2" Type="http://schemas.openxmlformats.org/officeDocument/2006/relationships/hyperlink" Target="https://nodejs.org/en/download" TargetMode="External"/><Relationship Id="rId3" Type="http://schemas.openxmlformats.org/officeDocument/2006/relationships/hyperlink" Target="https://nextjs.org/docs/app/getting-started/installation" TargetMode="External"/><Relationship Id="rId4" Type="http://schemas.openxmlformats.org/officeDocument/2006/relationships/hyperlink" Target="https://nextjs.org/docs/app/getting-started/installation" TargetMode="External"/><Relationship Id="rId5" Type="http://schemas.openxmlformats.org/officeDocument/2006/relationships/hyperlink" Target="https://nextjs.org/docs/app/api-reference/cli/create-next-app" TargetMode="External"/><Relationship Id="rId6" Type="http://schemas.openxmlformats.org/officeDocument/2006/relationships/hyperlink" Target="https://nextjs.org/docs/app/api-reference/cli/create-next-app" TargetMode="External"/><Relationship Id="rId7" Type="http://schemas.openxmlformats.org/officeDocument/2006/relationships/hyperlink" Target="https://node-postgres.com/" TargetMode="External"/><Relationship Id="rId8" Type="http://schemas.openxmlformats.org/officeDocument/2006/relationships/hyperlink" Target="https://node-postgres.com/" TargetMode="External"/><Relationship Id="rId9" Type="http://schemas.openxmlformats.org/officeDocument/2006/relationships/hyperlink" Target="https://node-postgres.com/features/connecting" TargetMode="External"/><Relationship Id="rId10" Type="http://schemas.openxmlformats.org/officeDocument/2006/relationships/hyperlink" Target="https://node-postgres.com/features/connecting" TargetMode="External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640080" y="777240"/>
            <a:ext cx="10926720" cy="5211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algn="bl" blurRad="25560" dir="2700000" dist="12218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1051560" y="1234440"/>
            <a:ext cx="9875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Next.js + PostgreSQL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1188720" y="1993320"/>
            <a:ext cx="9600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Install Node.js • Create a Next app • Add the pg driver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3"/>
          <p:cNvSpPr/>
          <p:nvPr/>
        </p:nvSpPr>
        <p:spPr>
          <a:xfrm>
            <a:off x="1234440" y="2880360"/>
            <a:ext cx="658080" cy="658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1234440" y="2990160"/>
            <a:ext cx="658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914400" y="3730680"/>
            <a:ext cx="13255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Install Node.js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6"/>
          <p:cNvSpPr/>
          <p:nvPr/>
        </p:nvSpPr>
        <p:spPr>
          <a:xfrm>
            <a:off x="2514600" y="3026520"/>
            <a:ext cx="1325520" cy="383760"/>
          </a:xfrm>
          <a:prstGeom prst="chevron">
            <a:avLst>
              <a:gd name="adj" fmla="val 50000"/>
            </a:avLst>
          </a:prstGeom>
          <a:solidFill>
            <a:srgbClr val="D1D5D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4572000" y="2880360"/>
            <a:ext cx="658080" cy="658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8"/>
          <p:cNvSpPr/>
          <p:nvPr/>
        </p:nvSpPr>
        <p:spPr>
          <a:xfrm>
            <a:off x="4572000" y="2990160"/>
            <a:ext cx="658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9"/>
          <p:cNvSpPr/>
          <p:nvPr/>
        </p:nvSpPr>
        <p:spPr>
          <a:xfrm>
            <a:off x="4251960" y="3730680"/>
            <a:ext cx="13255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Initialize Next.js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0"/>
          <p:cNvSpPr/>
          <p:nvPr/>
        </p:nvSpPr>
        <p:spPr>
          <a:xfrm>
            <a:off x="5852160" y="3026520"/>
            <a:ext cx="1325520" cy="383760"/>
          </a:xfrm>
          <a:prstGeom prst="chevron">
            <a:avLst>
              <a:gd name="adj" fmla="val 50000"/>
            </a:avLst>
          </a:prstGeom>
          <a:solidFill>
            <a:srgbClr val="D1D5D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1"/>
          <p:cNvSpPr/>
          <p:nvPr/>
        </p:nvSpPr>
        <p:spPr>
          <a:xfrm>
            <a:off x="7909560" y="2880360"/>
            <a:ext cx="658080" cy="6580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2"/>
          <p:cNvSpPr/>
          <p:nvPr/>
        </p:nvSpPr>
        <p:spPr>
          <a:xfrm>
            <a:off x="7909560" y="2990160"/>
            <a:ext cx="658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/>
          <p:cNvSpPr/>
          <p:nvPr/>
        </p:nvSpPr>
        <p:spPr>
          <a:xfrm>
            <a:off x="7589520" y="3730680"/>
            <a:ext cx="13255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Install PostgreSQL support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3749040" y="489204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For Windows and macOS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sldNum" idx="5"/>
          </p:nvPr>
        </p:nvSpPr>
        <p:spPr>
          <a:xfrm>
            <a:off x="11841480" y="647388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C3D4DEA-3206-4714-9BF3-D091AF2240A3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502920" y="38412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Windows: Install Node.js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530280" y="91440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Use the official LTS installer, which also installs npm.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"/>
          <p:cNvSpPr/>
          <p:nvPr/>
        </p:nvSpPr>
        <p:spPr>
          <a:xfrm>
            <a:off x="594360" y="1353240"/>
            <a:ext cx="5303160" cy="443448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blurRad="322580160" dir="0" dist="161290080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3"/>
          <p:cNvSpPr/>
          <p:nvPr/>
        </p:nvSpPr>
        <p:spPr>
          <a:xfrm>
            <a:off x="594360" y="1353240"/>
            <a:ext cx="82080" cy="443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4"/>
          <p:cNvSpPr/>
          <p:nvPr/>
        </p:nvSpPr>
        <p:spPr>
          <a:xfrm>
            <a:off x="850320" y="1536120"/>
            <a:ext cx="4891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1. Download Node.js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850320" y="1956960"/>
            <a:ext cx="4864320" cy="36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r>
              <a:rPr lang="en-US" sz="135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Open the official download page: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sng" strike="noStrike">
                <a:solidFill>
                  <a:srgbClr val="2563EB"/>
                </a:solidFill>
                <a:effectLst/>
                <a:uFillTx/>
                <a:latin typeface="Aptos"/>
                <a:hlinkClick r:id="rId1"/>
              </a:rPr>
              <a:t>https://nodejs.org/en/download
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Choose the Windows Installer (.msi) for the LTS release.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Use x64 on most PCs; choose ARM64 only for Windows-on-ARM devices.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6"/>
          <p:cNvSpPr/>
          <p:nvPr/>
        </p:nvSpPr>
        <p:spPr>
          <a:xfrm>
            <a:off x="6199560" y="1353240"/>
            <a:ext cx="5394600" cy="443448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7"/>
          <p:cNvSpPr/>
          <p:nvPr/>
        </p:nvSpPr>
        <p:spPr>
          <a:xfrm>
            <a:off x="6199560" y="1353240"/>
            <a:ext cx="82080" cy="44344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8"/>
          <p:cNvSpPr/>
          <p:nvPr/>
        </p:nvSpPr>
        <p:spPr>
          <a:xfrm>
            <a:off x="6455520" y="1536120"/>
            <a:ext cx="4983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 Install and verify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9"/>
          <p:cNvSpPr/>
          <p:nvPr/>
        </p:nvSpPr>
        <p:spPr>
          <a:xfrm>
            <a:off x="6455520" y="1956960"/>
            <a:ext cx="4955760" cy="36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Run the downloaded installer. Accept the defaults, including npm and “Add to PATH.” Then open PowerShell or Command Prompt and verify: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0"/>
          <p:cNvSpPr/>
          <p:nvPr/>
        </p:nvSpPr>
        <p:spPr>
          <a:xfrm>
            <a:off x="6537960" y="3127320"/>
            <a:ext cx="4708800" cy="1298160"/>
          </a:xfrm>
          <a:prstGeom prst="roundRect">
            <a:avLst>
              <a:gd name="adj" fmla="val 4225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6739200" y="3291840"/>
            <a:ext cx="4306320" cy="9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node --version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--version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2"/>
          <p:cNvSpPr/>
          <p:nvPr/>
        </p:nvSpPr>
        <p:spPr>
          <a:xfrm>
            <a:off x="6565320" y="4745880"/>
            <a:ext cx="209880" cy="209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3"/>
          <p:cNvSpPr/>
          <p:nvPr/>
        </p:nvSpPr>
        <p:spPr>
          <a:xfrm>
            <a:off x="6579000" y="472284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4"/>
          <p:cNvSpPr/>
          <p:nvPr/>
        </p:nvSpPr>
        <p:spPr>
          <a:xfrm>
            <a:off x="6876360" y="472752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Both commands should print version numbers.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5"/>
          <p:cNvSpPr/>
          <p:nvPr/>
        </p:nvSpPr>
        <p:spPr>
          <a:xfrm>
            <a:off x="777240" y="5925240"/>
            <a:ext cx="6583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Direct URL included for class handouts: nodejs.org/en/download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sldNum" idx="6"/>
          </p:nvPr>
        </p:nvSpPr>
        <p:spPr>
          <a:xfrm>
            <a:off x="11841480" y="647388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BD0A08C-4ED0-41E2-9A63-129A04DE12F4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502920" y="38412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macOS: Install Node.js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530280" y="91440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Recommended classroom option: install the LTS package from Node.js.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594360" y="1353240"/>
            <a:ext cx="5303160" cy="443448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594360" y="1353240"/>
            <a:ext cx="82080" cy="443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4"/>
          <p:cNvSpPr/>
          <p:nvPr/>
        </p:nvSpPr>
        <p:spPr>
          <a:xfrm>
            <a:off x="850320" y="1536120"/>
            <a:ext cx="4891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1. Download Node.js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5"/>
          <p:cNvSpPr/>
          <p:nvPr/>
        </p:nvSpPr>
        <p:spPr>
          <a:xfrm>
            <a:off x="850320" y="1956960"/>
            <a:ext cx="4864320" cy="36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r>
              <a:rPr lang="en-US" sz="135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Open: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sng" strike="noStrike">
                <a:solidFill>
                  <a:srgbClr val="2563EB"/>
                </a:solidFill>
                <a:effectLst/>
                <a:uFillTx/>
                <a:latin typeface="Aptos"/>
                <a:hlinkClick r:id="rId1"/>
              </a:rPr>
              <a:t>https://nodejs.org/en/download
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Download the macOS Installer (.pkg) for the LTS release. Choose the build matching your Mac: Apple silicon or Intel.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6"/>
          <p:cNvSpPr/>
          <p:nvPr/>
        </p:nvSpPr>
        <p:spPr>
          <a:xfrm>
            <a:off x="6199560" y="1353240"/>
            <a:ext cx="5394600" cy="443448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7"/>
          <p:cNvSpPr/>
          <p:nvPr/>
        </p:nvSpPr>
        <p:spPr>
          <a:xfrm>
            <a:off x="6199560" y="1353240"/>
            <a:ext cx="82080" cy="44344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6455520" y="1536120"/>
            <a:ext cx="4983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 Install and verify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9"/>
          <p:cNvSpPr/>
          <p:nvPr/>
        </p:nvSpPr>
        <p:spPr>
          <a:xfrm>
            <a:off x="6455520" y="1956960"/>
            <a:ext cx="4955760" cy="36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Open the .pkg file and follow the installer. Then open Terminal and verify Node.js and npm: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0"/>
          <p:cNvSpPr/>
          <p:nvPr/>
        </p:nvSpPr>
        <p:spPr>
          <a:xfrm>
            <a:off x="6537960" y="3090600"/>
            <a:ext cx="4708800" cy="1298160"/>
          </a:xfrm>
          <a:prstGeom prst="roundRect">
            <a:avLst>
              <a:gd name="adj" fmla="val 4225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6739200" y="3255120"/>
            <a:ext cx="4306320" cy="9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node --version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--version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2"/>
          <p:cNvSpPr/>
          <p:nvPr/>
        </p:nvSpPr>
        <p:spPr>
          <a:xfrm>
            <a:off x="6565320" y="4745880"/>
            <a:ext cx="209880" cy="209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3"/>
          <p:cNvSpPr/>
          <p:nvPr/>
        </p:nvSpPr>
        <p:spPr>
          <a:xfrm>
            <a:off x="6579000" y="472284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6876360" y="472752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Both commands should print version numbers.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5"/>
          <p:cNvSpPr/>
          <p:nvPr/>
        </p:nvSpPr>
        <p:spPr>
          <a:xfrm>
            <a:off x="777240" y="592524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Optional for experienced users: install through a version manager such as nvm.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1"/>
          <p:cNvSpPr>
            <a:spLocks noGrp="1"/>
          </p:cNvSpPr>
          <p:nvPr>
            <p:ph type="sldNum" idx="7"/>
          </p:nvPr>
        </p:nvSpPr>
        <p:spPr>
          <a:xfrm>
            <a:off x="11841480" y="647388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602712C-B8BE-49AB-A64A-B191EDA45FC6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502920" y="38412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Windows: Create the Next.js app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"/>
          <p:cNvSpPr/>
          <p:nvPr/>
        </p:nvSpPr>
        <p:spPr>
          <a:xfrm>
            <a:off x="530280" y="91440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Run these commands in PowerShell or Command Prompt.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640080" y="1371600"/>
            <a:ext cx="3474360" cy="45259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3"/>
          <p:cNvSpPr/>
          <p:nvPr/>
        </p:nvSpPr>
        <p:spPr>
          <a:xfrm>
            <a:off x="640080" y="1371600"/>
            <a:ext cx="82080" cy="4525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4"/>
          <p:cNvSpPr/>
          <p:nvPr/>
        </p:nvSpPr>
        <p:spPr>
          <a:xfrm>
            <a:off x="896040" y="1554480"/>
            <a:ext cx="3062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1. Choose a folder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5"/>
          <p:cNvSpPr/>
          <p:nvPr/>
        </p:nvSpPr>
        <p:spPr>
          <a:xfrm>
            <a:off x="896040" y="1974960"/>
            <a:ext cx="3035520" cy="37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Navigate to the folder where you want the project. Example: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6"/>
          <p:cNvSpPr/>
          <p:nvPr/>
        </p:nvSpPr>
        <p:spPr>
          <a:xfrm>
            <a:off x="932760" y="2761560"/>
            <a:ext cx="2880000" cy="1170000"/>
          </a:xfrm>
          <a:prstGeom prst="roundRect">
            <a:avLst>
              <a:gd name="adj" fmla="val 4688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7"/>
          <p:cNvSpPr/>
          <p:nvPr/>
        </p:nvSpPr>
        <p:spPr>
          <a:xfrm>
            <a:off x="1134000" y="2926080"/>
            <a:ext cx="247752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Documents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mkdir db-project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db-project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8"/>
          <p:cNvSpPr/>
          <p:nvPr/>
        </p:nvSpPr>
        <p:spPr>
          <a:xfrm>
            <a:off x="4370760" y="1371600"/>
            <a:ext cx="3474360" cy="45259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9"/>
          <p:cNvSpPr/>
          <p:nvPr/>
        </p:nvSpPr>
        <p:spPr>
          <a:xfrm>
            <a:off x="4370760" y="1371600"/>
            <a:ext cx="82080" cy="4525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0"/>
          <p:cNvSpPr/>
          <p:nvPr/>
        </p:nvSpPr>
        <p:spPr>
          <a:xfrm>
            <a:off x="4626720" y="1554480"/>
            <a:ext cx="3062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 Create the app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1"/>
          <p:cNvSpPr/>
          <p:nvPr/>
        </p:nvSpPr>
        <p:spPr>
          <a:xfrm>
            <a:off x="4626720" y="1974960"/>
            <a:ext cx="3035520" cy="37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Create a new project using the official Next.js CLI. Answer the prompts or accept the defaults.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2"/>
          <p:cNvSpPr/>
          <p:nvPr/>
        </p:nvSpPr>
        <p:spPr>
          <a:xfrm>
            <a:off x="4645080" y="2761560"/>
            <a:ext cx="2907360" cy="1170000"/>
          </a:xfrm>
          <a:prstGeom prst="roundRect">
            <a:avLst>
              <a:gd name="adj" fmla="val 4688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3"/>
          <p:cNvSpPr/>
          <p:nvPr/>
        </p:nvSpPr>
        <p:spPr>
          <a:xfrm>
            <a:off x="4846320" y="2926080"/>
            <a:ext cx="250524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create next-app@latest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# Project name: my-app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4"/>
          <p:cNvSpPr/>
          <p:nvPr/>
        </p:nvSpPr>
        <p:spPr>
          <a:xfrm>
            <a:off x="8101440" y="1371600"/>
            <a:ext cx="3474360" cy="45259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5"/>
          <p:cNvSpPr/>
          <p:nvPr/>
        </p:nvSpPr>
        <p:spPr>
          <a:xfrm>
            <a:off x="8101440" y="1371600"/>
            <a:ext cx="82080" cy="4525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6"/>
          <p:cNvSpPr/>
          <p:nvPr/>
        </p:nvSpPr>
        <p:spPr>
          <a:xfrm>
            <a:off x="8357760" y="1554480"/>
            <a:ext cx="3062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3. Start development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7"/>
          <p:cNvSpPr/>
          <p:nvPr/>
        </p:nvSpPr>
        <p:spPr>
          <a:xfrm>
            <a:off x="8357760" y="1974960"/>
            <a:ext cx="3035520" cy="37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Enter the generated project folder and launch the development server.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8"/>
          <p:cNvSpPr/>
          <p:nvPr/>
        </p:nvSpPr>
        <p:spPr>
          <a:xfrm>
            <a:off x="8375760" y="2761560"/>
            <a:ext cx="2907360" cy="1170000"/>
          </a:xfrm>
          <a:prstGeom prst="roundRect">
            <a:avLst>
              <a:gd name="adj" fmla="val 4688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9"/>
          <p:cNvSpPr/>
          <p:nvPr/>
        </p:nvSpPr>
        <p:spPr>
          <a:xfrm>
            <a:off x="8577000" y="2926080"/>
            <a:ext cx="250524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my-app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run dev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0"/>
          <p:cNvSpPr/>
          <p:nvPr/>
        </p:nvSpPr>
        <p:spPr>
          <a:xfrm>
            <a:off x="8366760" y="4316040"/>
            <a:ext cx="2907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Open http://localhost:3000 in your browser.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1"/>
          <p:cNvSpPr>
            <a:spLocks noGrp="1"/>
          </p:cNvSpPr>
          <p:nvPr>
            <p:ph type="sldNum" idx="8"/>
          </p:nvPr>
        </p:nvSpPr>
        <p:spPr>
          <a:xfrm>
            <a:off x="11841480" y="647388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9DE6F6D-D83E-4E82-91FF-542C69CEBA29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Shape 25"/>
          <p:cNvSpPr/>
          <p:nvPr/>
        </p:nvSpPr>
        <p:spPr>
          <a:xfrm>
            <a:off x="914400" y="4343400"/>
            <a:ext cx="2880000" cy="1170000"/>
          </a:xfrm>
          <a:prstGeom prst="roundRect">
            <a:avLst>
              <a:gd name="adj" fmla="val 4688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~/Documents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mkdir db-project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db-project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502920" y="38412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Install PostgreSQL support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530280" y="91440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The common Node.js PostgreSQL package is node-postgres, installed as pg.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658440" y="1353240"/>
            <a:ext cx="10771560" cy="449856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658440" y="1353240"/>
            <a:ext cx="82080" cy="44985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914400" y="1536120"/>
            <a:ext cx="32914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Install inside the app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5"/>
          <p:cNvSpPr/>
          <p:nvPr/>
        </p:nvSpPr>
        <p:spPr>
          <a:xfrm>
            <a:off x="914400" y="1956960"/>
            <a:ext cx="3264120" cy="37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Stop the development server with Ctrl+C if needed. From the project folder, install the package: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6"/>
          <p:cNvSpPr/>
          <p:nvPr/>
        </p:nvSpPr>
        <p:spPr>
          <a:xfrm>
            <a:off x="960120" y="2770560"/>
            <a:ext cx="3090240" cy="93240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7"/>
          <p:cNvSpPr/>
          <p:nvPr/>
        </p:nvSpPr>
        <p:spPr>
          <a:xfrm>
            <a:off x="1161360" y="2935080"/>
            <a:ext cx="26881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install pg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8"/>
          <p:cNvSpPr/>
          <p:nvPr/>
        </p:nvSpPr>
        <p:spPr>
          <a:xfrm>
            <a:off x="960120" y="404172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Using TypeScript?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9"/>
          <p:cNvSpPr/>
          <p:nvPr/>
        </p:nvSpPr>
        <p:spPr>
          <a:xfrm>
            <a:off x="960120" y="4407480"/>
            <a:ext cx="3090240" cy="840960"/>
          </a:xfrm>
          <a:prstGeom prst="roundRect">
            <a:avLst>
              <a:gd name="adj" fmla="val 6522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0"/>
          <p:cNvSpPr/>
          <p:nvPr/>
        </p:nvSpPr>
        <p:spPr>
          <a:xfrm>
            <a:off x="1161360" y="4572000"/>
            <a:ext cx="268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install -D @types/pg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6"/>
          <p:cNvSpPr/>
          <p:nvPr/>
        </p:nvSpPr>
        <p:spPr>
          <a:xfrm>
            <a:off x="5120640" y="2670120"/>
            <a:ext cx="5888520" cy="22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8"/>
          <p:cNvSpPr/>
          <p:nvPr/>
        </p:nvSpPr>
        <p:spPr>
          <a:xfrm>
            <a:off x="5870520" y="5212080"/>
            <a:ext cx="5074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sldNum" idx="9"/>
          </p:nvPr>
        </p:nvSpPr>
        <p:spPr>
          <a:xfrm>
            <a:off x="11841480" y="647388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FD3011D-79F3-4F3E-8B91-0C90BBCF1B8F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Text 3"/>
          <p:cNvSpPr/>
          <p:nvPr/>
        </p:nvSpPr>
        <p:spPr>
          <a:xfrm>
            <a:off x="914760" y="1536480"/>
            <a:ext cx="32914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Install inside the app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6"/>
          <p:cNvSpPr/>
          <p:nvPr/>
        </p:nvSpPr>
        <p:spPr>
          <a:xfrm>
            <a:off x="6766920" y="1453680"/>
            <a:ext cx="4434480" cy="83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Or Clone the Demo Repo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https://github.com/watswat5/DBToolTalk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"/>
          <p:cNvPicPr/>
          <p:nvPr/>
        </p:nvPicPr>
        <p:blipFill>
          <a:blip r:embed="rId1"/>
          <a:stretch/>
        </p:blipFill>
        <p:spPr>
          <a:xfrm>
            <a:off x="6858000" y="2286000"/>
            <a:ext cx="3571920" cy="3571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29"/>
          <p:cNvSpPr/>
          <p:nvPr/>
        </p:nvSpPr>
        <p:spPr>
          <a:xfrm>
            <a:off x="502920" y="38412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Final check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0"/>
          <p:cNvSpPr/>
          <p:nvPr/>
        </p:nvSpPr>
        <p:spPr>
          <a:xfrm>
            <a:off x="530280" y="91440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Confirm the full toolchain before starting database code.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"/>
          <p:cNvSpPr/>
          <p:nvPr/>
        </p:nvSpPr>
        <p:spPr>
          <a:xfrm>
            <a:off x="868680" y="1527120"/>
            <a:ext cx="209880" cy="209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1"/>
          <p:cNvSpPr/>
          <p:nvPr/>
        </p:nvSpPr>
        <p:spPr>
          <a:xfrm>
            <a:off x="882360" y="150408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2"/>
          <p:cNvSpPr/>
          <p:nvPr/>
        </p:nvSpPr>
        <p:spPr>
          <a:xfrm>
            <a:off x="1179720" y="150876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node --version works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4"/>
          <p:cNvSpPr/>
          <p:nvPr/>
        </p:nvSpPr>
        <p:spPr>
          <a:xfrm>
            <a:off x="868680" y="2148840"/>
            <a:ext cx="209880" cy="209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33"/>
          <p:cNvSpPr/>
          <p:nvPr/>
        </p:nvSpPr>
        <p:spPr>
          <a:xfrm>
            <a:off x="882360" y="212616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34"/>
          <p:cNvSpPr/>
          <p:nvPr/>
        </p:nvSpPr>
        <p:spPr>
          <a:xfrm>
            <a:off x="1179720" y="213048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npm --version works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3"/>
          <p:cNvSpPr/>
          <p:nvPr/>
        </p:nvSpPr>
        <p:spPr>
          <a:xfrm>
            <a:off x="868680" y="2770560"/>
            <a:ext cx="209880" cy="209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5"/>
          <p:cNvSpPr/>
          <p:nvPr/>
        </p:nvSpPr>
        <p:spPr>
          <a:xfrm>
            <a:off x="882360" y="274788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6"/>
          <p:cNvSpPr/>
          <p:nvPr/>
        </p:nvSpPr>
        <p:spPr>
          <a:xfrm>
            <a:off x="1179720" y="275220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Next.js opens at localhost:3000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868680" y="3392280"/>
            <a:ext cx="209880" cy="209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7"/>
          <p:cNvSpPr/>
          <p:nvPr/>
        </p:nvSpPr>
        <p:spPr>
          <a:xfrm>
            <a:off x="882360" y="336960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8"/>
          <p:cNvSpPr/>
          <p:nvPr/>
        </p:nvSpPr>
        <p:spPr>
          <a:xfrm>
            <a:off x="1179720" y="337428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pg appears in package.json dependencies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9"/>
          <p:cNvSpPr/>
          <p:nvPr/>
        </p:nvSpPr>
        <p:spPr>
          <a:xfrm>
            <a:off x="868680" y="4014360"/>
            <a:ext cx="209880" cy="209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39"/>
          <p:cNvSpPr/>
          <p:nvPr/>
        </p:nvSpPr>
        <p:spPr>
          <a:xfrm>
            <a:off x="882360" y="3991320"/>
            <a:ext cx="182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40"/>
          <p:cNvSpPr/>
          <p:nvPr/>
        </p:nvSpPr>
        <p:spPr>
          <a:xfrm>
            <a:off x="1179720" y="399600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PostgreSQL server and database credentials are available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0"/>
          <p:cNvSpPr/>
          <p:nvPr/>
        </p:nvSpPr>
        <p:spPr>
          <a:xfrm>
            <a:off x="6446520" y="1325880"/>
            <a:ext cx="4891680" cy="448020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41"/>
          <p:cNvSpPr/>
          <p:nvPr/>
        </p:nvSpPr>
        <p:spPr>
          <a:xfrm>
            <a:off x="6784920" y="1627560"/>
            <a:ext cx="4160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Official references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2"/>
          <p:cNvSpPr/>
          <p:nvPr/>
        </p:nvSpPr>
        <p:spPr>
          <a:xfrm>
            <a:off x="6793920" y="2212920"/>
            <a:ext cx="1599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Node.js downloads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3">
            <a:hlinkClick r:id="rId1"/>
          </p:cNvPr>
          <p:cNvSpPr/>
          <p:nvPr/>
        </p:nvSpPr>
        <p:spPr>
          <a:xfrm>
            <a:off x="8412480" y="2212920"/>
            <a:ext cx="2514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2563EB"/>
                </a:solidFill>
                <a:effectLst/>
                <a:uFillTx/>
                <a:latin typeface="Aptos"/>
                <a:hlinkClick r:id="rId2"/>
              </a:rPr>
              <a:t>https://nodejs.org/en/download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44"/>
          <p:cNvSpPr/>
          <p:nvPr/>
        </p:nvSpPr>
        <p:spPr>
          <a:xfrm>
            <a:off x="6793920" y="2825640"/>
            <a:ext cx="1599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Next.js installation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45">
            <a:hlinkClick r:id="rId3"/>
          </p:cNvPr>
          <p:cNvSpPr/>
          <p:nvPr/>
        </p:nvSpPr>
        <p:spPr>
          <a:xfrm>
            <a:off x="8412480" y="2825640"/>
            <a:ext cx="2514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2563EB"/>
                </a:solidFill>
                <a:effectLst/>
                <a:uFillTx/>
                <a:latin typeface="Aptos"/>
                <a:hlinkClick r:id="rId4"/>
              </a:rPr>
              <a:t>https://nextjs.org/docs/app/getting-started/installation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46"/>
          <p:cNvSpPr/>
          <p:nvPr/>
        </p:nvSpPr>
        <p:spPr>
          <a:xfrm>
            <a:off x="6793920" y="3438000"/>
            <a:ext cx="1599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create-next-app CLI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47">
            <a:hlinkClick r:id="rId5"/>
          </p:cNvPr>
          <p:cNvSpPr/>
          <p:nvPr/>
        </p:nvSpPr>
        <p:spPr>
          <a:xfrm>
            <a:off x="8412480" y="3438000"/>
            <a:ext cx="2514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2563EB"/>
                </a:solidFill>
                <a:effectLst/>
                <a:uFillTx/>
                <a:latin typeface="Aptos"/>
                <a:hlinkClick r:id="rId6"/>
              </a:rPr>
              <a:t>https://nextjs.org/docs/app/api-reference/cli/create-next-app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48"/>
          <p:cNvSpPr/>
          <p:nvPr/>
        </p:nvSpPr>
        <p:spPr>
          <a:xfrm>
            <a:off x="6793920" y="4050720"/>
            <a:ext cx="1599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node-postgres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49">
            <a:hlinkClick r:id="rId7"/>
          </p:cNvPr>
          <p:cNvSpPr/>
          <p:nvPr/>
        </p:nvSpPr>
        <p:spPr>
          <a:xfrm>
            <a:off x="8412480" y="4050720"/>
            <a:ext cx="2514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2563EB"/>
                </a:solidFill>
                <a:effectLst/>
                <a:uFillTx/>
                <a:latin typeface="Aptos"/>
                <a:hlinkClick r:id="rId8"/>
              </a:rPr>
              <a:t>https://node-postgres.com/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50"/>
          <p:cNvSpPr/>
          <p:nvPr/>
        </p:nvSpPr>
        <p:spPr>
          <a:xfrm>
            <a:off x="6793920" y="4663440"/>
            <a:ext cx="1599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Connection setup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1">
            <a:hlinkClick r:id="rId9"/>
          </p:cNvPr>
          <p:cNvSpPr/>
          <p:nvPr/>
        </p:nvSpPr>
        <p:spPr>
          <a:xfrm>
            <a:off x="8412480" y="4663440"/>
            <a:ext cx="2514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2563EB"/>
                </a:solidFill>
                <a:effectLst/>
                <a:uFillTx/>
                <a:latin typeface="Aptos"/>
                <a:hlinkClick r:id="rId10"/>
              </a:rPr>
              <a:t>https://node-postgres.com/features/connecting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1"/>
          <p:cNvSpPr>
            <a:spLocks noGrp="1"/>
          </p:cNvSpPr>
          <p:nvPr>
            <p:ph type="sldNum" idx="10"/>
          </p:nvPr>
        </p:nvSpPr>
        <p:spPr>
          <a:xfrm>
            <a:off x="11841480" y="647388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08F856-9D4A-4DDE-A065-7F0F3377E563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6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LibreOffice/26.2.3.2$Linux_X86_64 LibreOffice_project/620$Build-2</Application>
  <AppVersion>15.0000</AppVersion>
  <Words>0</Words>
  <Paragraphs>0</Paragraphs>
  <Company>OpenAI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2026-07-17T16:37:33Z</dcterms:created>
  <dc:creator>OpenAI</dc:creator>
  <dc:description/>
  <dc:language>en-US</dc:language>
  <cp:lastModifiedBy/>
  <dcterms:modified xsi:type="dcterms:W3CDTF">2026-07-17T12:54:25Z</dcterms:modified>
  <cp:revision>3</cp:revision>
  <dc:subject>Install Node.js, initialize a Next.js app, and install PostgreSQL support</dc:subject>
  <dc:title>Next.js + PostgreSQL Setup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