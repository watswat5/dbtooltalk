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02D183-72AF-40B8-8C5D-10DE2D87D8D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26FCF9-20E2-4253-A38D-394751E5F7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CAB8E-69EA-47C6-AC6D-1911D26D66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BA5990-041E-44E8-A2FE-DC77786A83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A4D90B-B4E5-46FC-89E2-73B87808EC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847F79-4255-456E-80A5-B881D44D29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F58542-D449-4D5E-B304-07F9D4A98F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D76454-B977-40AF-BFC3-01A95674420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207B5F-FB7D-4F11-83F9-6E88F9854EF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0680" cy="10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411480" y="6473880"/>
            <a:ext cx="5119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NEXT.JS + POSTGRESQL SETUP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0835640" y="6473880"/>
            <a:ext cx="913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July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7B95A3D-E09D-4BFE-B223-303467EBD05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90680" cy="10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11480" y="6473880"/>
            <a:ext cx="5119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NEXT.JS + POSTGRESQL SETUP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 2"/>
          <p:cNvSpPr/>
          <p:nvPr/>
        </p:nvSpPr>
        <p:spPr>
          <a:xfrm>
            <a:off x="10835640" y="6473880"/>
            <a:ext cx="913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July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F200E22-89F7-492A-A23E-684CD4C9B0B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nodejs.org/en/downloa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nodejs.org/en/download" TargetMode="External"/><Relationship Id="rId2" Type="http://schemas.openxmlformats.org/officeDocument/2006/relationships/hyperlink" Target="https://nodejs.org/en/download" TargetMode="External"/><Relationship Id="rId3" Type="http://schemas.openxmlformats.org/officeDocument/2006/relationships/hyperlink" Target="https://nextjs.org/docs/app/getting-started/installation" TargetMode="External"/><Relationship Id="rId4" Type="http://schemas.openxmlformats.org/officeDocument/2006/relationships/hyperlink" Target="https://nextjs.org/docs/app/getting-started/installation" TargetMode="External"/><Relationship Id="rId5" Type="http://schemas.openxmlformats.org/officeDocument/2006/relationships/hyperlink" Target="https://nextjs.org/docs/app/api-reference/cli/create-next-app" TargetMode="External"/><Relationship Id="rId6" Type="http://schemas.openxmlformats.org/officeDocument/2006/relationships/hyperlink" Target="https://nextjs.org/docs/app/api-reference/cli/create-next-app" TargetMode="External"/><Relationship Id="rId7" Type="http://schemas.openxmlformats.org/officeDocument/2006/relationships/hyperlink" Target="https://node-postgres.com/" TargetMode="External"/><Relationship Id="rId8" Type="http://schemas.openxmlformats.org/officeDocument/2006/relationships/hyperlink" Target="https://node-postgres.com/" TargetMode="External"/><Relationship Id="rId9" Type="http://schemas.openxmlformats.org/officeDocument/2006/relationships/hyperlink" Target="https://node-postgres.com/features/connecting" TargetMode="External"/><Relationship Id="rId10" Type="http://schemas.openxmlformats.org/officeDocument/2006/relationships/hyperlink" Target="https://node-postgres.com/features/connecting" TargetMode="Externa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"/>
          <p:cNvSpPr/>
          <p:nvPr/>
        </p:nvSpPr>
        <p:spPr>
          <a:xfrm>
            <a:off x="632880" y="741240"/>
            <a:ext cx="10926000" cy="5211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25560" dir="2700000" dist="12218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914400" y="2514600"/>
            <a:ext cx="98744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Next.js + PostgreSQL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914400" y="3429000"/>
            <a:ext cx="9600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4b5563"/>
                </a:solidFill>
                <a:latin typeface="Aptos"/>
              </a:rPr>
              <a:t>Chris Antepenko – Krish Ranawat -  Elisha Meshida – Harshwardhan Patil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Num" idx="6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42992D6-3B17-415A-BF03-463F4D551733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"/>
          <p:cNvSpPr/>
          <p:nvPr/>
        </p:nvSpPr>
        <p:spPr>
          <a:xfrm>
            <a:off x="632880" y="732600"/>
            <a:ext cx="10926000" cy="5211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25560" dir="2700000" dist="12218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1560" y="1234440"/>
            <a:ext cx="98744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Next.js + PostgreSQL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720" y="1993320"/>
            <a:ext cx="9600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4b5563"/>
                </a:solidFill>
                <a:latin typeface="Aptos"/>
              </a:rPr>
              <a:t>Install Node.js • Create a Next app • Add the pg driver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2148840" y="2743200"/>
            <a:ext cx="657360" cy="657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148840" y="2853000"/>
            <a:ext cx="657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28800" y="3593520"/>
            <a:ext cx="1324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Install Node.js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3429000" y="2889360"/>
            <a:ext cx="1324800" cy="38304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0" y="2743200"/>
            <a:ext cx="657360" cy="657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5486400" y="2853000"/>
            <a:ext cx="657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166360" y="3593520"/>
            <a:ext cx="1324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Initialize Next.js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6766560" y="2889360"/>
            <a:ext cx="1324800" cy="38304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8823960" y="2743200"/>
            <a:ext cx="657360" cy="657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8823960" y="2853000"/>
            <a:ext cx="657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8503920" y="3593520"/>
            <a:ext cx="1324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Install PostgreSQL support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2"/>
          <p:cNvSpPr/>
          <p:nvPr/>
        </p:nvSpPr>
        <p:spPr>
          <a:xfrm>
            <a:off x="3749040" y="4892040"/>
            <a:ext cx="4662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563eb"/>
                </a:solidFill>
                <a:latin typeface="Aptos"/>
              </a:rPr>
              <a:t>For Windows and macOS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sldNum" idx="7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0BD199A-EF42-4D08-A319-E2D6850CFEC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38412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What is Next.js?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30280" y="914400"/>
            <a:ext cx="10971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A quick primer before you install anything.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594360" y="1353240"/>
            <a:ext cx="5302440" cy="4433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94360" y="1353240"/>
            <a:ext cx="81360" cy="4433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850320" y="1536120"/>
            <a:ext cx="4890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1. A React Framework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850320" y="1956960"/>
            <a:ext cx="486360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Next.js is built on top of React, the widely used JavaScript library for building user interfaces.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It adds the project structure, routing, and build tooling most React apps need, so you write components, not configuration.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6199560" y="1353240"/>
            <a:ext cx="5393880" cy="4433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6199560" y="1353240"/>
            <a:ext cx="81360" cy="4433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6455520" y="1536120"/>
            <a:ext cx="4982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2. Full-Stack, Not Just Frontend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6455520" y="1956960"/>
            <a:ext cx="495504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Pages can render on the server, fetch data before they load, and expose their own API routes, all inside one project.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That server-side piece is what lets a Next.js app talk directly to a database like PostgreSQL.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594360" y="5925240"/>
            <a:ext cx="1099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b5563"/>
                </a:solidFill>
                <a:latin typeface="Aptos"/>
              </a:rPr>
              <a:t>This is the app layer. The rest of this deck sets up the database it talks to.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Num" idx="8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DA0BC60-39BF-499A-B2AD-BD88C1F81AA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02920" y="38412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Install Node.js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30280" y="914400"/>
            <a:ext cx="10971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Recommended classroom option: install the LTS package from Node.js.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594360" y="1353240"/>
            <a:ext cx="5302440" cy="4433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594360" y="1353240"/>
            <a:ext cx="81360" cy="4433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850320" y="1536120"/>
            <a:ext cx="4890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1. Download Node.js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850320" y="1956960"/>
            <a:ext cx="486360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827"/>
                </a:solidFill>
                <a:latin typeface="Aptos"/>
              </a:rPr>
              <a:t>Open: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 u="sng">
                <a:solidFill>
                  <a:srgbClr val="0563c1"/>
                </a:solidFill>
                <a:uFillTx/>
                <a:latin typeface="Aptos"/>
                <a:hlinkClick r:id="rId1"/>
              </a:rPr>
              <a:t>https://nodejs.org/en/download
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For Mac: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Download the macOS Installer (.pkg) for the LTS release. Choose the build matching your Mac: Apple silicon or Intel.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For Windows: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Choose the Windows Installer (.msi) for the LTS release.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6199560" y="1353240"/>
            <a:ext cx="5393880" cy="4433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6199560" y="1353240"/>
            <a:ext cx="81360" cy="4433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455520" y="1536120"/>
            <a:ext cx="4982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2. Install and verify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6455520" y="1956960"/>
            <a:ext cx="495504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Open the .pkg file and follow the installer. Then open Command Prompt, PowerShell or Terminal and verify Node.js and npm: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6537960" y="3090600"/>
            <a:ext cx="4708080" cy="1297440"/>
          </a:xfrm>
          <a:prstGeom prst="roundRect">
            <a:avLst>
              <a:gd name="adj" fmla="val 4225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6739200" y="3255120"/>
            <a:ext cx="430560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node --version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npm --version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6565320" y="4745880"/>
            <a:ext cx="209160" cy="209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6579000" y="472284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6876360" y="472752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Both commands should print version numbers.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777240" y="5925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b5563"/>
                </a:solidFill>
                <a:latin typeface="Aptos"/>
              </a:rPr>
              <a:t>Optional for experienced users: install through a version manager such as nvm.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9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EA58312-4225-43D4-98E9-6D343BF5FAB7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38412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Create the Next.js app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30280" y="914400"/>
            <a:ext cx="10971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Run these commands in PowerShell or Command Prompt.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640080" y="1371600"/>
            <a:ext cx="3473640" cy="4525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640080" y="1371600"/>
            <a:ext cx="81360" cy="4525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896040" y="1554480"/>
            <a:ext cx="306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1. Choose a folder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896040" y="1974960"/>
            <a:ext cx="3034800" cy="37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Navigate to the folder where you want the project. Example: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932760" y="2761560"/>
            <a:ext cx="2879280" cy="1169280"/>
          </a:xfrm>
          <a:prstGeom prst="roundRect">
            <a:avLst>
              <a:gd name="adj" fmla="val 468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134000" y="2926080"/>
            <a:ext cx="247680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cd Documents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mkdir db-project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cd db-project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4370760" y="1371600"/>
            <a:ext cx="3473640" cy="4525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4370760" y="1371600"/>
            <a:ext cx="81360" cy="4525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4626720" y="1554480"/>
            <a:ext cx="306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2. Create the app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626720" y="1974960"/>
            <a:ext cx="3034800" cy="37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Create a new project using the official Next.js CLI. Answer the prompts or accept the defaults.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4645080" y="2761560"/>
            <a:ext cx="2906640" cy="1169280"/>
          </a:xfrm>
          <a:prstGeom prst="roundRect">
            <a:avLst>
              <a:gd name="adj" fmla="val 468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4846320" y="2926080"/>
            <a:ext cx="250452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npm create next-app@latest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# Project name: my-app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8101440" y="1371600"/>
            <a:ext cx="3473640" cy="4525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8101440" y="1371600"/>
            <a:ext cx="81360" cy="4525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8357760" y="1554480"/>
            <a:ext cx="306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3. Start development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8357760" y="1974960"/>
            <a:ext cx="3034800" cy="37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Enter the generated project folder and launch the development server.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8375760" y="2761560"/>
            <a:ext cx="2906640" cy="1169280"/>
          </a:xfrm>
          <a:prstGeom prst="roundRect">
            <a:avLst>
              <a:gd name="adj" fmla="val 468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8577000" y="2926080"/>
            <a:ext cx="250452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cd my-app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npm run dev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8366760" y="4316040"/>
            <a:ext cx="290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11827"/>
                </a:solidFill>
                <a:latin typeface="Aptos"/>
              </a:rPr>
              <a:t>Open http://localhost:3000 in your browser.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10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A8D19A2-31FD-46D5-A023-2533E3EED184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914400" y="4343400"/>
            <a:ext cx="2879280" cy="1169280"/>
          </a:xfrm>
          <a:prstGeom prst="roundRect">
            <a:avLst>
              <a:gd name="adj" fmla="val 468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cd ~/Documents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mkdir db-project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cd db-project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02920" y="38412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Install PostgreSQL support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30280" y="914400"/>
            <a:ext cx="10971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The common Node.js PostgreSQL package is node-postgres, installed as pg.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658440" y="1353240"/>
            <a:ext cx="10770840" cy="4497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658440" y="1353240"/>
            <a:ext cx="81360" cy="4497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rIns="4104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914400" y="1536120"/>
            <a:ext cx="32907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Install inside the app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914400" y="1956960"/>
            <a:ext cx="3263400" cy="37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Stop the development server with Ctrl+C if needed. From the project folder, install the package: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960120" y="2770560"/>
            <a:ext cx="3089520" cy="9316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1161360" y="2935080"/>
            <a:ext cx="26874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npm install pg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960120" y="4041720"/>
            <a:ext cx="3016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11827"/>
                </a:solidFill>
                <a:latin typeface="Aptos"/>
              </a:rPr>
              <a:t>Using TypeScript?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960120" y="4407480"/>
            <a:ext cx="3089520" cy="840240"/>
          </a:xfrm>
          <a:prstGeom prst="roundRect">
            <a:avLst>
              <a:gd name="adj" fmla="val 6522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1161360" y="4572000"/>
            <a:ext cx="268740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5e7eb"/>
                </a:solidFill>
                <a:latin typeface="Courier New"/>
                <a:ea typeface="Courier New"/>
              </a:rPr>
              <a:t>npm install -D @types/pg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5120640" y="2670120"/>
            <a:ext cx="5887800" cy="22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5870520" y="521208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11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610F93D-2E97-45BE-8556-FD5471DED05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914760" y="1536480"/>
            <a:ext cx="32907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Install inside the app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6766920" y="1453680"/>
            <a:ext cx="44337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Clone the Demo Repo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11827"/>
                </a:solidFill>
                <a:latin typeface="Aptos"/>
              </a:rPr>
              <a:t>https://github.com/watswat5/DBToolTalk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85" descr=""/>
          <p:cNvPicPr/>
          <p:nvPr/>
        </p:nvPicPr>
        <p:blipFill>
          <a:blip r:embed="rId1"/>
          <a:stretch/>
        </p:blipFill>
        <p:spPr>
          <a:xfrm>
            <a:off x="6858000" y="2286000"/>
            <a:ext cx="3571200" cy="357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29"/>
          <p:cNvSpPr/>
          <p:nvPr/>
        </p:nvSpPr>
        <p:spPr>
          <a:xfrm>
            <a:off x="502920" y="38412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Final check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0"/>
          <p:cNvSpPr/>
          <p:nvPr/>
        </p:nvSpPr>
        <p:spPr>
          <a:xfrm>
            <a:off x="530280" y="914400"/>
            <a:ext cx="10971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b5563"/>
                </a:solidFill>
                <a:latin typeface="Aptos"/>
              </a:rPr>
              <a:t>Confirm the full toolchain before starting database code.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868680" y="1527120"/>
            <a:ext cx="209160" cy="209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882360" y="150408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2"/>
          <p:cNvSpPr/>
          <p:nvPr/>
        </p:nvSpPr>
        <p:spPr>
          <a:xfrm>
            <a:off x="1179720" y="150876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node --version works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868680" y="2148840"/>
            <a:ext cx="209160" cy="209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882360" y="212616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34"/>
          <p:cNvSpPr/>
          <p:nvPr/>
        </p:nvSpPr>
        <p:spPr>
          <a:xfrm>
            <a:off x="1179720" y="213048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npm --version works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868680" y="2770560"/>
            <a:ext cx="209160" cy="209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5"/>
          <p:cNvSpPr/>
          <p:nvPr/>
        </p:nvSpPr>
        <p:spPr>
          <a:xfrm>
            <a:off x="882360" y="274788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6"/>
          <p:cNvSpPr/>
          <p:nvPr/>
        </p:nvSpPr>
        <p:spPr>
          <a:xfrm>
            <a:off x="1179720" y="275220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Next.js opens at localhost:3000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868680" y="3392280"/>
            <a:ext cx="209160" cy="209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7"/>
          <p:cNvSpPr/>
          <p:nvPr/>
        </p:nvSpPr>
        <p:spPr>
          <a:xfrm>
            <a:off x="882360" y="336960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8"/>
          <p:cNvSpPr/>
          <p:nvPr/>
        </p:nvSpPr>
        <p:spPr>
          <a:xfrm>
            <a:off x="1179720" y="337428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pg appears in package.json dependencies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868680" y="4014360"/>
            <a:ext cx="209160" cy="209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39"/>
          <p:cNvSpPr/>
          <p:nvPr/>
        </p:nvSpPr>
        <p:spPr>
          <a:xfrm>
            <a:off x="882360" y="3991320"/>
            <a:ext cx="181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0"/>
          <p:cNvSpPr/>
          <p:nvPr/>
        </p:nvSpPr>
        <p:spPr>
          <a:xfrm>
            <a:off x="1179720" y="399600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827"/>
                </a:solidFill>
                <a:latin typeface="Aptos"/>
              </a:rPr>
              <a:t>PostgreSQL server and database credentials are available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6446520" y="1325880"/>
            <a:ext cx="4890960" cy="44794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1"/>
          <p:cNvSpPr/>
          <p:nvPr/>
        </p:nvSpPr>
        <p:spPr>
          <a:xfrm>
            <a:off x="6784920" y="1627560"/>
            <a:ext cx="4159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11827"/>
                </a:solidFill>
                <a:latin typeface="Aptos"/>
              </a:rPr>
              <a:t>Official references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2"/>
          <p:cNvSpPr/>
          <p:nvPr/>
        </p:nvSpPr>
        <p:spPr>
          <a:xfrm>
            <a:off x="6793920" y="2212920"/>
            <a:ext cx="1599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Node.js downloads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3">
            <a:hlinkClick r:id="rId1"/>
          </p:cNvPr>
          <p:cNvSpPr/>
          <p:nvPr/>
        </p:nvSpPr>
        <p:spPr>
          <a:xfrm>
            <a:off x="8412480" y="2212920"/>
            <a:ext cx="251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0563c1"/>
                </a:solidFill>
                <a:uFillTx/>
                <a:latin typeface="Aptos"/>
                <a:hlinkClick r:id="rId2"/>
              </a:rPr>
              <a:t>https://nodejs.org/en/download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4"/>
          <p:cNvSpPr/>
          <p:nvPr/>
        </p:nvSpPr>
        <p:spPr>
          <a:xfrm>
            <a:off x="6793920" y="2825640"/>
            <a:ext cx="1599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Next.js installation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5">
            <a:hlinkClick r:id="rId3"/>
          </p:cNvPr>
          <p:cNvSpPr/>
          <p:nvPr/>
        </p:nvSpPr>
        <p:spPr>
          <a:xfrm>
            <a:off x="8412480" y="2825640"/>
            <a:ext cx="251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0563c1"/>
                </a:solidFill>
                <a:uFillTx/>
                <a:latin typeface="Aptos"/>
                <a:hlinkClick r:id="rId4"/>
              </a:rPr>
              <a:t>https://nextjs.org/docs/app/getting-started/installation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6"/>
          <p:cNvSpPr/>
          <p:nvPr/>
        </p:nvSpPr>
        <p:spPr>
          <a:xfrm>
            <a:off x="6793920" y="3438000"/>
            <a:ext cx="1599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create-next-app CLI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7">
            <a:hlinkClick r:id="rId5"/>
          </p:cNvPr>
          <p:cNvSpPr/>
          <p:nvPr/>
        </p:nvSpPr>
        <p:spPr>
          <a:xfrm>
            <a:off x="8412480" y="3438000"/>
            <a:ext cx="251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0563c1"/>
                </a:solidFill>
                <a:uFillTx/>
                <a:latin typeface="Aptos"/>
                <a:hlinkClick r:id="rId6"/>
              </a:rPr>
              <a:t>https://nextjs.org/docs/app/api-reference/cli/create-next-app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48"/>
          <p:cNvSpPr/>
          <p:nvPr/>
        </p:nvSpPr>
        <p:spPr>
          <a:xfrm>
            <a:off x="6793920" y="4050720"/>
            <a:ext cx="1599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node-postgres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9">
            <a:hlinkClick r:id="rId7"/>
          </p:cNvPr>
          <p:cNvSpPr/>
          <p:nvPr/>
        </p:nvSpPr>
        <p:spPr>
          <a:xfrm>
            <a:off x="8412480" y="4050720"/>
            <a:ext cx="251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0563c1"/>
                </a:solidFill>
                <a:uFillTx/>
                <a:latin typeface="Aptos"/>
                <a:hlinkClick r:id="rId8"/>
              </a:rPr>
              <a:t>https://node-postgres.com/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0"/>
          <p:cNvSpPr/>
          <p:nvPr/>
        </p:nvSpPr>
        <p:spPr>
          <a:xfrm>
            <a:off x="6793920" y="4663440"/>
            <a:ext cx="1599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Connection setup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51">
            <a:hlinkClick r:id="rId9"/>
          </p:cNvPr>
          <p:cNvSpPr/>
          <p:nvPr/>
        </p:nvSpPr>
        <p:spPr>
          <a:xfrm>
            <a:off x="8412480" y="4663440"/>
            <a:ext cx="251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0563c1"/>
                </a:solidFill>
                <a:uFillTx/>
                <a:latin typeface="Aptos"/>
                <a:hlinkClick r:id="rId10"/>
              </a:rPr>
              <a:t>https://node-postgres.com/features/connecting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sldNum" idx="12"/>
          </p:nvPr>
        </p:nvSpPr>
        <p:spPr>
          <a:xfrm>
            <a:off x="11841480" y="64738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287F6EB-21D9-46DF-9D7A-62D6DFF2E39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7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  <Words>613</Words>
  <Paragraphs>103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2026-07-17T16:37:33Z</dcterms:created>
  <dc:creator>OpenAI</dc:creator>
  <dc:description/>
  <dc:language>en-US</dc:language>
  <cp:lastModifiedBy/>
  <dcterms:modified xsi:type="dcterms:W3CDTF">2026-07-22T21:19:57Z</dcterms:modified>
  <cp:revision>9</cp:revision>
  <dc:subject>Install Node.js, initialize a Next.js app, and install PostgreSQL support</dc:subject>
  <dc:title>Next.js + PostgreSQL Setup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