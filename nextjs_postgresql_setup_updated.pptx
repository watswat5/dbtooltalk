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61" r:id="rId2"/>
    <p:sldId id="256" r:id="rId3"/>
    <p:sldId id="257" r:id="rId4"/>
    <p:sldId id="258" r:id="rId5"/>
    <p:sldId id="259" r:id="rId6"/>
    <p:sldId id="260" r:id="rId7"/>
  </p:sldIdLst>
  <p:sldSz cx="12192000" cy="6858000"/>
  <p:notesSz cx="6858000" cy="12192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94" d="100"/>
          <a:sy n="94" d="100"/>
        </p:scale>
        <p:origin x="48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76428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move the slide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&lt;header&gt;</a:t>
            </a:r>
          </a:p>
        </p:txBody>
      </p:sp>
      <p:sp>
        <p:nvSpPr>
          <p:cNvPr id="11" name="PlaceHolder 4"/>
          <p:cNvSpPr>
            <a:spLocks noGrp="1"/>
          </p:cNvSpPr>
          <p:nvPr>
            <p:ph type="dt" idx="2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&lt;date/time&gt;</a:t>
            </a:r>
          </a:p>
        </p:txBody>
      </p:sp>
      <p:sp>
        <p:nvSpPr>
          <p:cNvPr id="12" name="PlaceHolder 5"/>
          <p:cNvSpPr>
            <a:spLocks noGrp="1"/>
          </p:cNvSpPr>
          <p:nvPr>
            <p:ph type="ftr" idx="3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</a:p>
        </p:txBody>
      </p:sp>
      <p:sp>
        <p:nvSpPr>
          <p:cNvPr id="13" name="PlaceHolder 6"/>
          <p:cNvSpPr>
            <a:spLocks noGrp="1"/>
          </p:cNvSpPr>
          <p:nvPr>
            <p:ph type="sldNum" idx="4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03F1CCA-C452-4371-A9DD-04DC4C66A3B2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‹#›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1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7287DB5-89CF-4E46-9F08-1955891A5CC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2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69E251-1572-423F-9433-1BAD2002B62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3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2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CA2D217-C4CD-4FDB-BE6A-1653B34655F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4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2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63E76AD-FB3F-4EB6-A2AA-C6CF69DF2EE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5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</p:sp>
      <p:sp>
        <p:nvSpPr>
          <p:cNvPr id="13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5680" cy="35996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1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71080" cy="4579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6C19F37-1D5F-49D4-8ECB-1D21DE599703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6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MASTER"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040" cy="109080"/>
          </a:xfrm>
          <a:prstGeom prst="rect">
            <a:avLst/>
          </a:prstGeom>
          <a:solidFill>
            <a:srgbClr val="111827"/>
          </a:solidFill>
          <a:ln w="12700">
            <a:solidFill>
              <a:srgbClr val="111827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" name="Text 1"/>
          <p:cNvSpPr/>
          <p:nvPr/>
        </p:nvSpPr>
        <p:spPr>
          <a:xfrm>
            <a:off x="411480" y="6473880"/>
            <a:ext cx="5119920" cy="16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NEXT.JS + POSTGRESQL SETUP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Text 2"/>
          <p:cNvSpPr/>
          <p:nvPr/>
        </p:nvSpPr>
        <p:spPr>
          <a:xfrm>
            <a:off x="10835640" y="6473880"/>
            <a:ext cx="913680" cy="1638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July 2026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" name="PlaceHolder 1"/>
          <p:cNvSpPr>
            <a:spLocks noGrp="1"/>
          </p:cNvSpPr>
          <p:nvPr>
            <p:ph type="sldNum" idx="1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8EBD8D1C-0503-4025-A8F1-33DCA9A36B8C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‹#›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080" cy="11444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>
              <a:lnSpc>
                <a:spcPct val="10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</a:lstStyle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title text format</a:t>
            </a: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080" cy="3976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1pPr>
            <a:lvl2pPr lvl="1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2pPr>
            <a:lvl3pPr lvl="2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3pPr>
            <a:lvl4pPr lvl="3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4pPr>
            <a:lvl5pPr lvl="4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5pPr>
            <a:lvl6pPr lvl="5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6pPr>
            <a:lvl7pPr lvl="6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defRPr>
            </a:lvl7pPr>
          </a:lstStyle>
          <a:p>
            <a:pPr marL="432000" indent="-324000" algn="l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Click to edit the outline text format</a:t>
            </a:r>
          </a:p>
          <a:p>
            <a:pPr marL="864000" lvl="1" indent="-324000" algn="l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Second Outline Level</a:t>
            </a:r>
          </a:p>
          <a:p>
            <a:pPr marL="1296000" lvl="2" indent="-288000" algn="l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Third Outline Level</a:t>
            </a:r>
          </a:p>
          <a:p>
            <a:pPr marL="1728000" lvl="3" indent="-216000" algn="l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Fourth Outline Level</a:t>
            </a:r>
          </a:p>
          <a:p>
            <a:pPr marL="2160000" lvl="4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Fifth Outline Level</a:t>
            </a:r>
          </a:p>
          <a:p>
            <a:pPr marL="2592000" lvl="5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Sixth Outline Level</a:t>
            </a:r>
          </a:p>
          <a:p>
            <a:pPr marL="3024000" lvl="6" indent="-216000" algn="l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Aptos"/>
              </a:rPr>
              <a:t>Seventh Outline Level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nodejs.org/en/download" TargetMode="External"/><Relationship Id="rId7" Type="http://schemas.openxmlformats.org/officeDocument/2006/relationships/hyperlink" Target="https://node-postgres.com/features/connecting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node-postgres.com/" TargetMode="External"/><Relationship Id="rId5" Type="http://schemas.openxmlformats.org/officeDocument/2006/relationships/hyperlink" Target="https://nextjs.org/docs/app/api-reference/cli/create-next-app" TargetMode="External"/><Relationship Id="rId4" Type="http://schemas.openxmlformats.org/officeDocument/2006/relationships/hyperlink" Target="https://nextjs.org/docs/app/getting-started/installation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What is Next.js?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A quick primer before you install anything.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53240"/>
            <a:ext cx="530280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94360" y="1353240"/>
            <a:ext cx="81720" cy="4434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850320" y="1536120"/>
            <a:ext cx="48913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A React Framework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850320" y="1956960"/>
            <a:ext cx="4863960" cy="366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4B5563"/>
                </a:solidFill>
                <a:effectLst/>
                <a:uFillTx/>
                <a:latin typeface="Aptos"/>
              </a:rPr>
              <a:t>Next.js is built on top of React, the widely used JavaScript library for building user interfaces.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4B5563"/>
                </a:solidFill>
                <a:effectLst/>
                <a:uFillTx/>
                <a:latin typeface="Aptos"/>
              </a:rPr>
              <a:t>It adds the project structure, routing, and build tooling most React apps need, so you write components, not configuration.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6199560" y="1353240"/>
            <a:ext cx="539424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6199560" y="1353240"/>
            <a:ext cx="81720" cy="4434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6455520" y="1536120"/>
            <a:ext cx="49827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Full-Stack, Not Just Frontend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455520" y="1956960"/>
            <a:ext cx="4955400" cy="366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4B5563"/>
                </a:solidFill>
                <a:effectLst/>
                <a:uFillTx/>
                <a:latin typeface="Aptos"/>
              </a:rPr>
              <a:t>Pages can render on the server, fetch data before they load, and expose their own API routes, all inside one project.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30000"/>
              </a:lnSpc>
              <a:tabLst>
                <a:tab pos="0" algn="l"/>
              </a:tabLst>
            </a:pPr>
            <a:r>
              <a:rPr lang="en-US" sz="1350" b="0" u="none" strike="noStrike" dirty="0">
                <a:solidFill>
                  <a:srgbClr val="4B5563"/>
                </a:solidFill>
                <a:effectLst/>
                <a:uFillTx/>
                <a:latin typeface="Aptos"/>
              </a:rPr>
              <a:t>That server-side piece is what lets a Next.js app talk directly to a database like PostgreSQL.</a:t>
            </a:r>
            <a:endParaRPr lang="en-US" sz="135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594360" y="5925240"/>
            <a:ext cx="109999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This is the app layer. The rest of this deck sets up the database it talks to.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sldNum" idx="6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71E934-BFDF-4356-AD5A-0CC1E457DB81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1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7F8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hape 0"/>
          <p:cNvSpPr/>
          <p:nvPr/>
        </p:nvSpPr>
        <p:spPr>
          <a:xfrm>
            <a:off x="640080" y="777240"/>
            <a:ext cx="10926360" cy="52113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5E7EB"/>
            </a:solidFill>
            <a:round/>
          </a:ln>
          <a:effectLst>
            <a:outerShdw blurRad="25560" dist="12218" dir="2700000" algn="bl" rotWithShape="0">
              <a:srgbClr val="000000">
                <a:alpha val="1400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1"/>
          <p:cNvSpPr/>
          <p:nvPr/>
        </p:nvSpPr>
        <p:spPr>
          <a:xfrm>
            <a:off x="1051560" y="1234440"/>
            <a:ext cx="9874800" cy="6850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36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Next.js + PostgreSQL</a:t>
            </a:r>
            <a:endParaRPr lang="en-US" sz="3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2"/>
          <p:cNvSpPr/>
          <p:nvPr/>
        </p:nvSpPr>
        <p:spPr>
          <a:xfrm>
            <a:off x="1188720" y="1993320"/>
            <a:ext cx="9600480" cy="410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Install Node.js • Create a Next app • Add the pg driver</a:t>
            </a: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" name="Shape 3"/>
          <p:cNvSpPr/>
          <p:nvPr/>
        </p:nvSpPr>
        <p:spPr>
          <a:xfrm>
            <a:off x="1234440" y="2880360"/>
            <a:ext cx="657720" cy="6577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" name="Text 4"/>
          <p:cNvSpPr/>
          <p:nvPr/>
        </p:nvSpPr>
        <p:spPr>
          <a:xfrm>
            <a:off x="123444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1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" name="Text 5"/>
          <p:cNvSpPr/>
          <p:nvPr/>
        </p:nvSpPr>
        <p:spPr>
          <a:xfrm>
            <a:off x="91440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Node.js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" name="Shape 6"/>
          <p:cNvSpPr/>
          <p:nvPr/>
        </p:nvSpPr>
        <p:spPr>
          <a:xfrm>
            <a:off x="2514600" y="3026520"/>
            <a:ext cx="1325160" cy="38340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7"/>
          <p:cNvSpPr/>
          <p:nvPr/>
        </p:nvSpPr>
        <p:spPr>
          <a:xfrm>
            <a:off x="4572000" y="2880360"/>
            <a:ext cx="657720" cy="657720"/>
          </a:xfrm>
          <a:prstGeom prst="ellipse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2" name="Text 8"/>
          <p:cNvSpPr/>
          <p:nvPr/>
        </p:nvSpPr>
        <p:spPr>
          <a:xfrm>
            <a:off x="457200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2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Text 9"/>
          <p:cNvSpPr/>
          <p:nvPr/>
        </p:nvSpPr>
        <p:spPr>
          <a:xfrm>
            <a:off x="425196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Initialize Next.js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10"/>
          <p:cNvSpPr/>
          <p:nvPr/>
        </p:nvSpPr>
        <p:spPr>
          <a:xfrm>
            <a:off x="5852160" y="3026520"/>
            <a:ext cx="1325160" cy="383400"/>
          </a:xfrm>
          <a:prstGeom prst="chevron">
            <a:avLst>
              <a:gd name="adj" fmla="val 50000"/>
            </a:avLst>
          </a:prstGeom>
          <a:solidFill>
            <a:srgbClr val="D1D5DB"/>
          </a:solidFill>
          <a:ln w="12700">
            <a:solidFill>
              <a:srgbClr val="D1D5D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" name="Shape 11"/>
          <p:cNvSpPr/>
          <p:nvPr/>
        </p:nvSpPr>
        <p:spPr>
          <a:xfrm>
            <a:off x="7909560" y="2880360"/>
            <a:ext cx="657720" cy="6577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" name="Text 12"/>
          <p:cNvSpPr/>
          <p:nvPr/>
        </p:nvSpPr>
        <p:spPr>
          <a:xfrm>
            <a:off x="7909560" y="2990160"/>
            <a:ext cx="65772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3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Text 13"/>
          <p:cNvSpPr/>
          <p:nvPr/>
        </p:nvSpPr>
        <p:spPr>
          <a:xfrm>
            <a:off x="7589520" y="3730680"/>
            <a:ext cx="132516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PostgreSQL support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Text 14"/>
          <p:cNvSpPr/>
          <p:nvPr/>
        </p:nvSpPr>
        <p:spPr>
          <a:xfrm>
            <a:off x="3749040" y="4892040"/>
            <a:ext cx="466272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2563EB"/>
                </a:solidFill>
                <a:effectLst/>
                <a:uFillTx/>
                <a:latin typeface="Aptos"/>
              </a:rPr>
              <a:t>For Windows and macOS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" name="PlaceHolder 1"/>
          <p:cNvSpPr>
            <a:spLocks noGrp="1"/>
          </p:cNvSpPr>
          <p:nvPr>
            <p:ph type="sldNum" idx="5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27C8C220-5834-49E1-8AC3-285356476D28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2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Install Node.js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Recommended classroom option: install the LTS package from Node.js.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Shape 2"/>
          <p:cNvSpPr/>
          <p:nvPr/>
        </p:nvSpPr>
        <p:spPr>
          <a:xfrm>
            <a:off x="594360" y="1353240"/>
            <a:ext cx="530280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3"/>
          <p:cNvSpPr/>
          <p:nvPr/>
        </p:nvSpPr>
        <p:spPr>
          <a:xfrm>
            <a:off x="594360" y="1353240"/>
            <a:ext cx="81720" cy="443412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" name="Text 4"/>
          <p:cNvSpPr/>
          <p:nvPr/>
        </p:nvSpPr>
        <p:spPr>
          <a:xfrm>
            <a:off x="850320" y="1536120"/>
            <a:ext cx="48913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Download Node.js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" name="Text 5"/>
          <p:cNvSpPr/>
          <p:nvPr/>
        </p:nvSpPr>
        <p:spPr>
          <a:xfrm>
            <a:off x="850320" y="1956960"/>
            <a:ext cx="4863960" cy="366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>
              <a:lnSpc>
                <a:spcPct val="100000"/>
              </a:lnSpc>
            </a:pPr>
            <a:r>
              <a:rPr lang="en-US" sz="135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3"/>
              </a:rPr>
              <a:t>https://nodejs.org/en/download
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For Mac: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Download the macOS Installer (.pkg) for the LTS release. Choose the build matching your Mac: Apple silicon or Intel.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For Windows: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Choose the Windows Installer (.msi) for the LTS release.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6"/>
          <p:cNvSpPr/>
          <p:nvPr/>
        </p:nvSpPr>
        <p:spPr>
          <a:xfrm>
            <a:off x="6199560" y="1353240"/>
            <a:ext cx="5394240" cy="4434120"/>
          </a:xfrm>
          <a:prstGeom prst="roundRect">
            <a:avLst>
              <a:gd name="adj" fmla="val 1649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Shape 7"/>
          <p:cNvSpPr/>
          <p:nvPr/>
        </p:nvSpPr>
        <p:spPr>
          <a:xfrm>
            <a:off x="6199560" y="1353240"/>
            <a:ext cx="81720" cy="443412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" name="Text 8"/>
          <p:cNvSpPr/>
          <p:nvPr/>
        </p:nvSpPr>
        <p:spPr>
          <a:xfrm>
            <a:off x="6455520" y="1536120"/>
            <a:ext cx="498276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Install and verify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Text 9"/>
          <p:cNvSpPr/>
          <p:nvPr/>
        </p:nvSpPr>
        <p:spPr>
          <a:xfrm>
            <a:off x="6455520" y="1956960"/>
            <a:ext cx="4955400" cy="36658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Open the .pkg file and follow the installer. Then open Command Prompt, PowerShell or Terminal and verify Node.js and npm: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" name="Shape 10"/>
          <p:cNvSpPr/>
          <p:nvPr/>
        </p:nvSpPr>
        <p:spPr>
          <a:xfrm>
            <a:off x="6537960" y="3090600"/>
            <a:ext cx="4708440" cy="1297800"/>
          </a:xfrm>
          <a:prstGeom prst="roundRect">
            <a:avLst>
              <a:gd name="adj" fmla="val 4225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1" name="Text 11"/>
          <p:cNvSpPr/>
          <p:nvPr/>
        </p:nvSpPr>
        <p:spPr>
          <a:xfrm>
            <a:off x="6739200" y="3255120"/>
            <a:ext cx="4305960" cy="9867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node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--version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2"/>
          <p:cNvSpPr/>
          <p:nvPr/>
        </p:nvSpPr>
        <p:spPr>
          <a:xfrm>
            <a:off x="6565320" y="474588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" name="Text 13"/>
          <p:cNvSpPr/>
          <p:nvPr/>
        </p:nvSpPr>
        <p:spPr>
          <a:xfrm>
            <a:off x="6579000" y="472284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Text 14"/>
          <p:cNvSpPr/>
          <p:nvPr/>
        </p:nvSpPr>
        <p:spPr>
          <a:xfrm>
            <a:off x="6876360" y="472752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Both commands should print version numbers.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5"/>
          <p:cNvSpPr/>
          <p:nvPr/>
        </p:nvSpPr>
        <p:spPr>
          <a:xfrm>
            <a:off x="777240" y="5925240"/>
            <a:ext cx="731448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Optional for experienced users: install through a version manager such as nvm.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PlaceHolder 1"/>
          <p:cNvSpPr>
            <a:spLocks noGrp="1"/>
          </p:cNvSpPr>
          <p:nvPr>
            <p:ph type="sldNum" idx="6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B871E934-BFDF-4356-AD5A-0CC1E457DB81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3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Create the Next.js app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Run these commands in PowerShell or Command Prompt.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64008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Shape 3"/>
          <p:cNvSpPr/>
          <p:nvPr/>
        </p:nvSpPr>
        <p:spPr>
          <a:xfrm>
            <a:off x="640080" y="1371600"/>
            <a:ext cx="81720" cy="4525560"/>
          </a:xfrm>
          <a:prstGeom prst="rect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" name="Text 4"/>
          <p:cNvSpPr/>
          <p:nvPr/>
        </p:nvSpPr>
        <p:spPr>
          <a:xfrm>
            <a:off x="89604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1. Choose a folder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5"/>
          <p:cNvSpPr/>
          <p:nvPr/>
        </p:nvSpPr>
        <p:spPr>
          <a:xfrm>
            <a:off x="89604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Navigate to the folder where you want the project. Example: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3" name="Shape 6"/>
          <p:cNvSpPr/>
          <p:nvPr/>
        </p:nvSpPr>
        <p:spPr>
          <a:xfrm>
            <a:off x="932760" y="2761560"/>
            <a:ext cx="287964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7"/>
          <p:cNvSpPr/>
          <p:nvPr/>
        </p:nvSpPr>
        <p:spPr>
          <a:xfrm>
            <a:off x="1134000" y="2926080"/>
            <a:ext cx="2477160" cy="85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Documents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" name="Shape 8"/>
          <p:cNvSpPr/>
          <p:nvPr/>
        </p:nvSpPr>
        <p:spPr>
          <a:xfrm>
            <a:off x="437076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Shape 9"/>
          <p:cNvSpPr/>
          <p:nvPr/>
        </p:nvSpPr>
        <p:spPr>
          <a:xfrm>
            <a:off x="4370760" y="1371600"/>
            <a:ext cx="81720" cy="452556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7" name="Text 10"/>
          <p:cNvSpPr/>
          <p:nvPr/>
        </p:nvSpPr>
        <p:spPr>
          <a:xfrm>
            <a:off x="462672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2. Create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Text 11"/>
          <p:cNvSpPr/>
          <p:nvPr/>
        </p:nvSpPr>
        <p:spPr>
          <a:xfrm>
            <a:off x="462672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Create a new project using the official Next.js CLI. Answer the prompts or accept the defaults.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12"/>
          <p:cNvSpPr/>
          <p:nvPr/>
        </p:nvSpPr>
        <p:spPr>
          <a:xfrm>
            <a:off x="4645080" y="2761560"/>
            <a:ext cx="290700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0" name="Text 13"/>
          <p:cNvSpPr/>
          <p:nvPr/>
        </p:nvSpPr>
        <p:spPr>
          <a:xfrm>
            <a:off x="4846320" y="2926080"/>
            <a:ext cx="2504880" cy="85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create next-app@latest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# Project name: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Shape 14"/>
          <p:cNvSpPr/>
          <p:nvPr/>
        </p:nvSpPr>
        <p:spPr>
          <a:xfrm>
            <a:off x="8101440" y="1371600"/>
            <a:ext cx="3474000" cy="452556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Shape 15"/>
          <p:cNvSpPr/>
          <p:nvPr/>
        </p:nvSpPr>
        <p:spPr>
          <a:xfrm>
            <a:off x="8101440" y="1371600"/>
            <a:ext cx="81720" cy="452556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16"/>
          <p:cNvSpPr/>
          <p:nvPr/>
        </p:nvSpPr>
        <p:spPr>
          <a:xfrm>
            <a:off x="8357760" y="1554480"/>
            <a:ext cx="30625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3. Start development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17"/>
          <p:cNvSpPr/>
          <p:nvPr/>
        </p:nvSpPr>
        <p:spPr>
          <a:xfrm>
            <a:off x="8357760" y="1974960"/>
            <a:ext cx="3035160" cy="3757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Enter the generated project folder and launch the development server.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Shape 18"/>
          <p:cNvSpPr/>
          <p:nvPr/>
        </p:nvSpPr>
        <p:spPr>
          <a:xfrm>
            <a:off x="8375760" y="2761560"/>
            <a:ext cx="290700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 19"/>
          <p:cNvSpPr/>
          <p:nvPr/>
        </p:nvSpPr>
        <p:spPr>
          <a:xfrm>
            <a:off x="8577000" y="2926080"/>
            <a:ext cx="2504880" cy="858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my-app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run dev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" name="Text 20"/>
          <p:cNvSpPr/>
          <p:nvPr/>
        </p:nvSpPr>
        <p:spPr>
          <a:xfrm>
            <a:off x="8366760" y="4316040"/>
            <a:ext cx="2907000" cy="639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Open http://localhost:3000 in your browser.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PlaceHolder 1"/>
          <p:cNvSpPr>
            <a:spLocks noGrp="1"/>
          </p:cNvSpPr>
          <p:nvPr>
            <p:ph type="sldNum" idx="7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E3CED893-6761-49DA-A006-0B052281BA8E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4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9" name="Shape 25"/>
          <p:cNvSpPr/>
          <p:nvPr/>
        </p:nvSpPr>
        <p:spPr>
          <a:xfrm>
            <a:off x="914400" y="4343400"/>
            <a:ext cx="2879640" cy="1169640"/>
          </a:xfrm>
          <a:prstGeom prst="roundRect">
            <a:avLst>
              <a:gd name="adj" fmla="val 4688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>
              <a:lnSpc>
                <a:spcPct val="100000"/>
              </a:lnSpc>
            </a:pP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~/Documents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mkdir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>
              <a:lnSpc>
                <a:spcPct val="100000"/>
              </a:lnSpc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cd db-project</a:t>
            </a:r>
            <a:endParaRPr lang="en-US" sz="135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Text 0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Install PostgreSQL support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Text 1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The common Node.js PostgreSQL package is node-postgres, installed as pg.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Shape 2"/>
          <p:cNvSpPr/>
          <p:nvPr/>
        </p:nvSpPr>
        <p:spPr>
          <a:xfrm>
            <a:off x="658440" y="1353240"/>
            <a:ext cx="10771200" cy="4498200"/>
          </a:xfrm>
          <a:prstGeom prst="roundRect">
            <a:avLst>
              <a:gd name="adj" fmla="val 1975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3"/>
          <p:cNvSpPr/>
          <p:nvPr/>
        </p:nvSpPr>
        <p:spPr>
          <a:xfrm>
            <a:off x="658440" y="1353240"/>
            <a:ext cx="81720" cy="4498200"/>
          </a:xfrm>
          <a:prstGeom prst="rect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1040" tIns="45000" rIns="4104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4" name="Text 4"/>
          <p:cNvSpPr/>
          <p:nvPr/>
        </p:nvSpPr>
        <p:spPr>
          <a:xfrm>
            <a:off x="914400" y="1536120"/>
            <a:ext cx="32911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" name="Text 5"/>
          <p:cNvSpPr/>
          <p:nvPr/>
        </p:nvSpPr>
        <p:spPr>
          <a:xfrm>
            <a:off x="914400" y="1956960"/>
            <a:ext cx="3263760" cy="3729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t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Stop the development server with Ctrl+C if needed. From the project folder, install the package: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" name="Shape 6"/>
          <p:cNvSpPr/>
          <p:nvPr/>
        </p:nvSpPr>
        <p:spPr>
          <a:xfrm>
            <a:off x="960120" y="2770560"/>
            <a:ext cx="3089880" cy="932040"/>
          </a:xfrm>
          <a:prstGeom prst="roundRect">
            <a:avLst>
              <a:gd name="adj" fmla="val 588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7"/>
          <p:cNvSpPr/>
          <p:nvPr/>
        </p:nvSpPr>
        <p:spPr>
          <a:xfrm>
            <a:off x="1161360" y="2935080"/>
            <a:ext cx="2687760" cy="6210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8"/>
          <p:cNvSpPr/>
          <p:nvPr/>
        </p:nvSpPr>
        <p:spPr>
          <a:xfrm>
            <a:off x="960120" y="4041720"/>
            <a:ext cx="30168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4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Using TypeScript?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Shape 9"/>
          <p:cNvSpPr/>
          <p:nvPr/>
        </p:nvSpPr>
        <p:spPr>
          <a:xfrm>
            <a:off x="960120" y="4407480"/>
            <a:ext cx="3089880" cy="840600"/>
          </a:xfrm>
          <a:prstGeom prst="roundRect">
            <a:avLst>
              <a:gd name="adj" fmla="val 6522"/>
            </a:avLst>
          </a:prstGeom>
          <a:solidFill>
            <a:srgbClr val="0F172A"/>
          </a:solidFill>
          <a:ln w="12700">
            <a:solidFill>
              <a:srgbClr val="0F1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0" name="Text 10"/>
          <p:cNvSpPr/>
          <p:nvPr/>
        </p:nvSpPr>
        <p:spPr>
          <a:xfrm>
            <a:off x="1161360" y="4572000"/>
            <a:ext cx="2687760" cy="529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5E7EB"/>
                </a:solidFill>
                <a:effectLst/>
                <a:uFillTx/>
                <a:latin typeface="Courier New"/>
                <a:ea typeface="Courier New"/>
              </a:rPr>
              <a:t>npm install -D @types/pg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Text 16"/>
          <p:cNvSpPr/>
          <p:nvPr/>
        </p:nvSpPr>
        <p:spPr>
          <a:xfrm>
            <a:off x="5120640" y="2670120"/>
            <a:ext cx="5888160" cy="22305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360" tIns="360" rIns="360" bIns="36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 18"/>
          <p:cNvSpPr/>
          <p:nvPr/>
        </p:nvSpPr>
        <p:spPr>
          <a:xfrm>
            <a:off x="5870520" y="5212080"/>
            <a:ext cx="50742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1"/>
          <p:cNvSpPr>
            <a:spLocks noGrp="1"/>
          </p:cNvSpPr>
          <p:nvPr>
            <p:ph type="sldNum" idx="8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564F5746-0405-48B9-B1E9-A2B8380C35DC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5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4" name="Text 3"/>
          <p:cNvSpPr/>
          <p:nvPr/>
        </p:nvSpPr>
        <p:spPr>
          <a:xfrm>
            <a:off x="914760" y="1536480"/>
            <a:ext cx="329112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Install inside the app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5" name="Text 6"/>
          <p:cNvSpPr/>
          <p:nvPr/>
        </p:nvSpPr>
        <p:spPr>
          <a:xfrm>
            <a:off x="6766920" y="1453680"/>
            <a:ext cx="4434120" cy="83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Clone the Demo Repo</a:t>
            </a:r>
            <a:endParaRPr lang="en-US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https://github.com/watswat5/DBToolTalk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86" name="Picture 85"/>
          <p:cNvPicPr/>
          <p:nvPr/>
        </p:nvPicPr>
        <p:blipFill>
          <a:blip r:embed="rId3"/>
          <a:stretch/>
        </p:blipFill>
        <p:spPr>
          <a:xfrm>
            <a:off x="6858000" y="2286000"/>
            <a:ext cx="3571560" cy="357156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Text 29"/>
          <p:cNvSpPr/>
          <p:nvPr/>
        </p:nvSpPr>
        <p:spPr>
          <a:xfrm>
            <a:off x="502920" y="384120"/>
            <a:ext cx="11154960" cy="5022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700" b="1" u="none" strike="noStrike">
                <a:solidFill>
                  <a:srgbClr val="111827"/>
                </a:solidFill>
                <a:effectLst/>
                <a:uFillTx/>
                <a:latin typeface="Aptos Display"/>
                <a:ea typeface="Aptos Display"/>
              </a:rPr>
              <a:t>Final check</a:t>
            </a:r>
            <a:endParaRPr lang="en-US" sz="2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Text 30"/>
          <p:cNvSpPr/>
          <p:nvPr/>
        </p:nvSpPr>
        <p:spPr>
          <a:xfrm>
            <a:off x="530280" y="914400"/>
            <a:ext cx="10972080" cy="3103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4B5563"/>
                </a:solidFill>
                <a:effectLst/>
                <a:uFillTx/>
                <a:latin typeface="Aptos"/>
              </a:rPr>
              <a:t>Confirm the full toolchain before starting database code.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1"/>
          <p:cNvSpPr/>
          <p:nvPr/>
        </p:nvSpPr>
        <p:spPr>
          <a:xfrm>
            <a:off x="868680" y="152712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0" name="Text 31"/>
          <p:cNvSpPr/>
          <p:nvPr/>
        </p:nvSpPr>
        <p:spPr>
          <a:xfrm>
            <a:off x="882360" y="150408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1" name="Text 32"/>
          <p:cNvSpPr/>
          <p:nvPr/>
        </p:nvSpPr>
        <p:spPr>
          <a:xfrm>
            <a:off x="1179720" y="150876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Shape 4"/>
          <p:cNvSpPr/>
          <p:nvPr/>
        </p:nvSpPr>
        <p:spPr>
          <a:xfrm>
            <a:off x="868680" y="214884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3" name="Text 33"/>
          <p:cNvSpPr/>
          <p:nvPr/>
        </p:nvSpPr>
        <p:spPr>
          <a:xfrm>
            <a:off x="882360" y="212616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Text 34"/>
          <p:cNvSpPr/>
          <p:nvPr/>
        </p:nvSpPr>
        <p:spPr>
          <a:xfrm>
            <a:off x="1179720" y="213048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npm --version works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Shape 13"/>
          <p:cNvSpPr/>
          <p:nvPr/>
        </p:nvSpPr>
        <p:spPr>
          <a:xfrm>
            <a:off x="868680" y="277056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6" name="Text 35"/>
          <p:cNvSpPr/>
          <p:nvPr/>
        </p:nvSpPr>
        <p:spPr>
          <a:xfrm>
            <a:off x="882360" y="274788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36"/>
          <p:cNvSpPr/>
          <p:nvPr/>
        </p:nvSpPr>
        <p:spPr>
          <a:xfrm>
            <a:off x="1179720" y="275220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opens at localhost:3000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Shape 16"/>
          <p:cNvSpPr/>
          <p:nvPr/>
        </p:nvSpPr>
        <p:spPr>
          <a:xfrm>
            <a:off x="868680" y="3392280"/>
            <a:ext cx="209520" cy="209520"/>
          </a:xfrm>
          <a:prstGeom prst="ellipse">
            <a:avLst/>
          </a:prstGeom>
          <a:solidFill>
            <a:srgbClr val="16A34A"/>
          </a:solidFill>
          <a:ln w="12700">
            <a:solidFill>
              <a:srgbClr val="16A34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37"/>
          <p:cNvSpPr/>
          <p:nvPr/>
        </p:nvSpPr>
        <p:spPr>
          <a:xfrm>
            <a:off x="882360" y="336960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 38"/>
          <p:cNvSpPr/>
          <p:nvPr/>
        </p:nvSpPr>
        <p:spPr>
          <a:xfrm>
            <a:off x="1179720" y="337428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pg appears in package.json dependencies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9"/>
          <p:cNvSpPr/>
          <p:nvPr/>
        </p:nvSpPr>
        <p:spPr>
          <a:xfrm>
            <a:off x="868680" y="4014360"/>
            <a:ext cx="209520" cy="209520"/>
          </a:xfrm>
          <a:prstGeom prst="ellipse">
            <a:avLst/>
          </a:prstGeom>
          <a:solidFill>
            <a:srgbClr val="2563EB"/>
          </a:solidFill>
          <a:ln w="12700">
            <a:solidFill>
              <a:srgbClr val="2563E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 39"/>
          <p:cNvSpPr/>
          <p:nvPr/>
        </p:nvSpPr>
        <p:spPr>
          <a:xfrm>
            <a:off x="882360" y="3991320"/>
            <a:ext cx="182160" cy="2005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1" u="none" strike="noStrike">
                <a:solidFill>
                  <a:srgbClr val="FFFFFF"/>
                </a:solidFill>
                <a:effectLst/>
                <a:uFillTx/>
                <a:latin typeface="Aptos"/>
              </a:rPr>
              <a:t>✓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3" name="Text 40"/>
          <p:cNvSpPr/>
          <p:nvPr/>
        </p:nvSpPr>
        <p:spPr>
          <a:xfrm>
            <a:off x="1179720" y="3996000"/>
            <a:ext cx="4845600" cy="27360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PostgreSQL server and database credentials are available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4" name="Shape 20"/>
          <p:cNvSpPr/>
          <p:nvPr/>
        </p:nvSpPr>
        <p:spPr>
          <a:xfrm>
            <a:off x="6446520" y="1325880"/>
            <a:ext cx="4891320" cy="4479840"/>
          </a:xfrm>
          <a:prstGeom prst="roundRect">
            <a:avLst>
              <a:gd name="adj" fmla="val 1633"/>
            </a:avLst>
          </a:prstGeom>
          <a:solidFill>
            <a:srgbClr val="FFFFFF"/>
          </a:solidFill>
          <a:ln w="12700">
            <a:solidFill>
              <a:srgbClr val="D1D5DB"/>
            </a:solidFill>
            <a:round/>
          </a:ln>
          <a:effectLst>
            <a:outerShdw algn="bl" rotWithShape="0">
              <a:srgbClr val="000000">
                <a:alpha val="0"/>
              </a:srgbClr>
            </a:outerShdw>
          </a:effectLst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1"/>
          <p:cNvSpPr/>
          <p:nvPr/>
        </p:nvSpPr>
        <p:spPr>
          <a:xfrm>
            <a:off x="6784920" y="1627560"/>
            <a:ext cx="4159800" cy="3650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9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Official references</a:t>
            </a:r>
            <a:endParaRPr lang="en-US" sz="19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42"/>
          <p:cNvSpPr/>
          <p:nvPr/>
        </p:nvSpPr>
        <p:spPr>
          <a:xfrm>
            <a:off x="6793920" y="22129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Node.js downloads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43">
            <a:hlinkClick r:id="rId3"/>
          </p:cNvPr>
          <p:cNvSpPr/>
          <p:nvPr/>
        </p:nvSpPr>
        <p:spPr>
          <a:xfrm>
            <a:off x="8412480" y="221292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3"/>
              </a:rPr>
              <a:t>https://nodejs.org/en/download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Text 44"/>
          <p:cNvSpPr/>
          <p:nvPr/>
        </p:nvSpPr>
        <p:spPr>
          <a:xfrm>
            <a:off x="6793920" y="282564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Next.js installation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Text 45">
            <a:hlinkClick r:id="rId4"/>
          </p:cNvPr>
          <p:cNvSpPr/>
          <p:nvPr/>
        </p:nvSpPr>
        <p:spPr>
          <a:xfrm>
            <a:off x="8412480" y="282564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4"/>
              </a:rPr>
              <a:t>https://nextjs.org/docs/app/getting-started/installation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Text 46"/>
          <p:cNvSpPr/>
          <p:nvPr/>
        </p:nvSpPr>
        <p:spPr>
          <a:xfrm>
            <a:off x="6793920" y="343800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create-next-app CLI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Text 47">
            <a:hlinkClick r:id="rId5"/>
          </p:cNvPr>
          <p:cNvSpPr/>
          <p:nvPr/>
        </p:nvSpPr>
        <p:spPr>
          <a:xfrm>
            <a:off x="8412480" y="343800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5"/>
              </a:rPr>
              <a:t>https://nextjs.org/docs/app/api-reference/cli/create-next-app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Text 48"/>
          <p:cNvSpPr/>
          <p:nvPr/>
        </p:nvSpPr>
        <p:spPr>
          <a:xfrm>
            <a:off x="6793920" y="405072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node-postgres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Text 49">
            <a:hlinkClick r:id="rId6"/>
          </p:cNvPr>
          <p:cNvSpPr/>
          <p:nvPr/>
        </p:nvSpPr>
        <p:spPr>
          <a:xfrm>
            <a:off x="8412480" y="405072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6"/>
              </a:rPr>
              <a:t>https://node-postgres.com/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 50"/>
          <p:cNvSpPr/>
          <p:nvPr/>
        </p:nvSpPr>
        <p:spPr>
          <a:xfrm>
            <a:off x="6793920" y="4663440"/>
            <a:ext cx="1599480" cy="25524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Autofit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11827"/>
                </a:solidFill>
                <a:effectLst/>
                <a:uFillTx/>
                <a:latin typeface="Aptos"/>
              </a:rPr>
              <a:t>Connection setup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1">
            <a:hlinkClick r:id="rId7"/>
          </p:cNvPr>
          <p:cNvSpPr/>
          <p:nvPr/>
        </p:nvSpPr>
        <p:spPr>
          <a:xfrm>
            <a:off x="8412480" y="4663440"/>
            <a:ext cx="2513880" cy="2919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0" tIns="0" rIns="0" bIns="0" anchor="ctr">
            <a:normAutofit lnSpcReduction="10000"/>
          </a:bodyPr>
          <a:lstStyle/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sng" strike="noStrike">
                <a:solidFill>
                  <a:srgbClr val="0563C1"/>
                </a:solidFill>
                <a:effectLst/>
                <a:uFillTx/>
                <a:latin typeface="Aptos"/>
                <a:hlinkClick r:id="rId7"/>
              </a:rPr>
              <a:t>https://node-postgres.com/features/connecting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PlaceHolder 1"/>
          <p:cNvSpPr>
            <a:spLocks noGrp="1"/>
          </p:cNvSpPr>
          <p:nvPr>
            <p:ph type="sldNum" idx="9"/>
          </p:nvPr>
        </p:nvSpPr>
        <p:spPr>
          <a:xfrm>
            <a:off x="11841480" y="6473880"/>
            <a:ext cx="799200" cy="29916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Autofit/>
          </a:bodyPr>
          <a:lstStyle>
            <a:lvl1pPr indent="0" algn="l" defTabSz="914400">
              <a:lnSpc>
                <a:spcPct val="100000"/>
              </a:lnSpc>
              <a:buNone/>
              <a:tabLst>
                <a:tab pos="0" algn="l"/>
              </a:tabLst>
              <a:def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defRPr>
            </a:lvl1pPr>
          </a:lstStyle>
          <a:p>
            <a:pPr indent="0" algn="l" defTabSz="914400">
              <a:lnSpc>
                <a:spcPct val="100000"/>
              </a:lnSpc>
              <a:buNone/>
              <a:tabLst>
                <a:tab pos="0" algn="l"/>
              </a:tabLst>
            </a:pPr>
            <a:fld id="{6ACA8027-C9F2-4D80-A395-9FDDB824A1DD}" type="slidenum">
              <a:rPr lang="en-US" sz="800" b="0" u="none" strike="noStrike">
                <a:solidFill>
                  <a:srgbClr val="6B7280"/>
                </a:solidFill>
                <a:effectLst/>
                <a:uFillTx/>
                <a:latin typeface="Aptos"/>
                <a:ea typeface="Aptos"/>
              </a:rPr>
              <a:t>6</a:t>
            </a:fld>
            <a:endParaRPr lang="en-US" sz="8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</a:majorFont>
      <a:minorFont>
        <a:latin typeface="Aptos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26</TotalTime>
  <Words>613</Words>
  <Application>Microsoft Office PowerPoint</Application>
  <PresentationFormat>Widescreen</PresentationFormat>
  <Paragraphs>103</Paragraphs>
  <Slides>6</Slides>
  <Notes>5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4" baseType="lpstr">
      <vt:lpstr>Aptos</vt:lpstr>
      <vt:lpstr>Aptos Display</vt:lpstr>
      <vt:lpstr>Arial</vt:lpstr>
      <vt:lpstr>Courier New</vt:lpstr>
      <vt:lpstr>Symbol</vt:lpstr>
      <vt:lpstr>Times New Roman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OpenAI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Next.js + PostgreSQL Setup</dc:title>
  <dc:subject>Install Node.js, initialize a Next.js app, and install PostgreSQL support</dc:subject>
  <dc:creator>OpenAI</dc:creator>
  <dc:description/>
  <cp:lastModifiedBy>Krish Ranawat</cp:lastModifiedBy>
  <cp:revision>5</cp:revision>
  <dcterms:created xsi:type="dcterms:W3CDTF">2026-07-17T16:37:33Z</dcterms:created>
  <dcterms:modified xsi:type="dcterms:W3CDTF">2026-07-22T17:25:58Z</dcterms:modified>
  <dc:language>en-US</dc:languag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7</vt:i4>
  </property>
  <property fmtid="{D5CDD505-2E9C-101B-9397-08002B2CF9AE}" pid="3" name="PresentationFormat">
    <vt:lpwstr>On-screen Show (16:9)</vt:lpwstr>
  </property>
  <property fmtid="{D5CDD505-2E9C-101B-9397-08002B2CF9AE}" pid="4" name="Slides">
    <vt:i4>7</vt:i4>
  </property>
</Properties>
</file>